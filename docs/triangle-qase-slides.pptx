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demonstrate that specification-based tests expose two known classifier defects.</a:t>
            </a:r>
          </a:p>
          <a:p>
            <a:r>
              <a:t>This is a performative testing exercise, not a performance test.</a:t>
            </a:r>
          </a:p>
          <a:p>
            <a:r>
              <a:t>Use the four cases from commit 785557b. The lab shows only the faulty classifier output.</a:t>
            </a:r>
          </a:p>
          <a:p>
            <a:r>
              <a:t>A failed assertion is the desired evidence for a defective case. Keep the expected value correct.</a:t>
            </a:r>
          </a:p>
          <a:p>
            <a:r>
              <a:t>Suggested order: setup before class, register four cases, start GitHub automation, execute the manual run while it works, then inspect the two Qase reports.</a:t>
            </a:r>
          </a:p>
          <a:p>
            <a:r>
              <a:t>Links: https://triangle.theerapakg.moe/ ; https://app.qase.io/project/TR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prerequisites: a browser, a Qase account or workspace invitation, permission to create cases and runs, and access to Triangle Lab.</a:t>
            </a:r>
          </a:p>
          <a:p>
            <a:r>
              <a:t>In Qase Projects, reuse Triangle with project code TR. For an independent exercise, create a project in your workspace and note its project code. Use that same code in GitHub and .env.local.</a:t>
            </a:r>
          </a:p>
          <a:p>
            <a:r>
              <a:t>Create the suite 'Triangle demo - four cases' from Repository &gt; Suites &gt; plus.</a:t>
            </a:r>
          </a:p>
          <a:p>
            <a:r>
              <a:t>Vocabulary: Project contains the product's tests. Suite groups cases. Case defines steps, data and expected result. Run records an execution and its actual outcomes.</a:t>
            </a:r>
          </a:p>
          <a:p>
            <a:r>
              <a:t>The screenshot is the real TR repository, with the Manual test &gt; Create manually menu open. The case counts can change.</a:t>
            </a:r>
          </a:p>
          <a:p>
            <a:r>
              <a:t>Source: https://docs.qase.io/en/articles/5563688-getting-started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Qase Apps: open Vitest, activate it if needed, open Access tokens, create a token. Repeat for Playwright. The current workspace already has both apps installed.</a:t>
            </a:r>
          </a:p>
          <a:p>
            <a:r>
              <a:t>GitHub: use tiara-stack/triangle with permission, or fork the repo and enable Actions in your fork. Open repository Settings &gt; Secrets and variables &gt; Actions.</a:t>
            </a:r>
          </a:p>
          <a:p>
            <a:r>
              <a:t>On Variables, add repository variable QASE_TESTOPS_PROJECT=TR, or your own Qase project code.</a:t>
            </a:r>
          </a:p>
          <a:p>
            <a:r>
              <a:t>On Secrets, add QASE_VITEST_API_TOKEN with the Vitest app token and QASE_PLAYWRIGHT_API_TOKEN with the Playwright app token.</a:t>
            </a:r>
          </a:p>
          <a:p>
            <a:r>
              <a:t>Alternative: a shared token can use QASE_TESTOPS_API_TOKEN. Separate app tokens are preferable for app attribution. Do not confuse the GitHub setting names with the reporter env name: scripts/performative-test.ts maps each selected token into QASE_TESTOPS_API_TOKEN for its child process.</a:t>
            </a:r>
          </a:p>
          <a:p>
            <a:r>
              <a:t>The workflow and reporter packages are already in this repo. There is no need to install a Qase GitHub integration just to upload these results.</a:t>
            </a:r>
          </a:p>
          <a:p>
            <a:r>
              <a:t>Check the configuration log says 'Qase TestOps reporting is enabled.' Then check four results in each new Qase run.</a:t>
            </a:r>
          </a:p>
          <a:p>
            <a:r>
              <a:t>Never show real tokens on slides or commit them.</a:t>
            </a:r>
          </a:p>
          <a:p>
            <a:r>
              <a:t>Sources: https://developers.qase.io/docs/prerequisites ; https://developers.qase.io/docs/playwright ; https://docs.github.com/en/actions/how-tos/write-workflows/choose-what-workflows-do/use-secrets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&gt; Suites plus: create 'Triangle demo - four cases'.</a:t>
            </a:r>
          </a:p>
          <a:p>
            <a:r>
              <a:t>Manual test &gt; Create manually opens the full case editor.</a:t>
            </a:r>
          </a:p>
          <a:p>
            <a:r>
              <a:t>Title: Classifies a = c as Isosceles. Choose the suite. In this workspace Status is called Actual. Automation status Manual, Type Functional.</a:t>
            </a:r>
          </a:p>
          <a:p>
            <a:r>
              <a:t>Pre-conditions: Triangle Lab open, Enter sides only selected.</a:t>
            </a:r>
          </a:p>
          <a:p>
            <a:r>
              <a:t>Test Case Steps: Classic &gt; New step.</a:t>
            </a:r>
          </a:p>
          <a:p>
            <a:r>
              <a:t>Action: Enter the three side lengths, click Run test, read the classifier output.</a:t>
            </a:r>
          </a:p>
          <a:p>
            <a:r>
              <a:t>Data: a=2; b=1; c=2. Expected result: Isosceles.</a:t>
            </a:r>
          </a:p>
          <a:p>
            <a:r>
              <a:t>Use Save and create another for the remaining cases. Use the next slide as the answer sheet.</a:t>
            </a:r>
          </a:p>
          <a:p>
            <a:r>
              <a:t>Qase assigns real case IDs with the TR prefix. Keep them.</a:t>
            </a:r>
          </a:p>
          <a:p>
            <a:r>
              <a:t>Screenshot: an unsaved draft in the real project. No cases were created for this document.</a:t>
            </a:r>
          </a:p>
          <a:p>
            <a:r>
              <a:t>Source: https://docs.qase.io/en/articles/5563704-test-cases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01: a=2,b=1,c=2. Correct specification Isosceles. Faulty classifier Scalene. Record Failed.</a:t>
            </a:r>
          </a:p>
          <a:p>
            <a:r>
              <a:t>Case 02: a=1,b=200,c=200. Correct specification Isosceles. Faulty classifier Value is out of range. Record Failed.</a:t>
            </a:r>
          </a:p>
          <a:p>
            <a:r>
              <a:t>Case 03: a=3,b=3,c=3. Expected and observed Equilateral. Record Passed.</a:t>
            </a:r>
          </a:p>
          <a:p>
            <a:r>
              <a:t>Case 04: a=201,b=1,c=1. Expected and observed Value is out of range. Record Passed.</a:t>
            </a:r>
          </a:p>
          <a:p>
            <a:r>
              <a:t>The allowed side range is inclusive 1 through 200. The valid-200 case proves an inclusive upper boundary defect. The a=c case proves an omitted equality check.</a:t>
            </a:r>
          </a:p>
          <a:p>
            <a:r>
              <a:t>Use 03,01,02,04 as a convenient manual demonstration order: a passing baseline, the two defects, then a passing out-of-range rejection.</a:t>
            </a:r>
          </a:p>
          <a:p>
            <a:r>
              <a:t>Source: src/lib/triangle.ts, tests/performative/triangle.test.ts, tests/e2e/performative.spec.ts at commit 785557b.</a:t>
            </a:r>
          </a:p>
          <a:p>
            <a:r>
              <a:t>Specification: https://triangle.theerapakg.moe/lesson-3-triangle-problem.pdf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 only the four manual cases in the Qase Repository and click Run for an express run. Name the run 'Triangle demo - Manual'. Alternatively use Test Runs &gt; Start new test run and choose the four cases.</a:t>
            </a:r>
          </a:p>
          <a:p>
            <a:r>
              <a:t>Open a case in the run or Open wizard. Keep the lab in another tab.</a:t>
            </a:r>
          </a:p>
          <a:p>
            <a:r>
              <a:t>In Triangle Lab choose Enter sides only, enter a,b,c and click Run test. Read Observed / Faulty classifier output.</a:t>
            </a:r>
          </a:p>
          <a:p>
            <a:r>
              <a:t>Passed means actual equals the case's expected result. Failed means they differ. An HTTP 200 alone does not make the classifier correct.</a:t>
            </a:r>
          </a:p>
          <a:p>
            <a:r>
              <a:t>In Add result, select Failed, add the Comment shown, attach the lab screenshot, and save the result. Do not change the expected result to the faulty output.</a:t>
            </a:r>
          </a:p>
          <a:p>
            <a:r>
              <a:t>After all four cases, verify 2 Passed and 2 Failed, then Complete the manual run.</a:t>
            </a:r>
          </a:p>
          <a:p>
            <a:r>
              <a:t>The Add result image is a clearly labeled official Qase Help Center example because no real manual run or result was created to illustrate this guide.</a:t>
            </a:r>
          </a:p>
          <a:p>
            <a:r>
              <a:t>Sources: https://docs.qase.io/en/articles/5563702-test-runs ; image https://docs.qase.io/en/articles/6417206-github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repository &gt; Actions &gt; Performative defect detection.</a:t>
            </a:r>
          </a:p>
          <a:p>
            <a:r>
              <a:t>Click Run workflow, choose main, and click Run workflow again.</a:t>
            </a:r>
          </a:p>
          <a:p>
            <a:r>
              <a:t>Workflow URL: https://github.com/tiara-stack/triangle/actions/workflows/performative.yml</a:t>
            </a:r>
          </a:p>
          <a:p>
            <a:r>
              <a:t>The workflow installs dependencies and Chromium, reports Qase configuration status, then runs pnpm test:performative.</a:t>
            </a:r>
          </a:p>
          <a:p>
            <a:r>
              <a:t>The script runs the direct Effect/Vitest tests and then the Playwright UI tests even when the direct suite fails.</a:t>
            </a:r>
          </a:p>
          <a:p>
            <a:r>
              <a:t>Playwright builds and starts the app from this checkout on a local port. These checks do not depend on a running production deployment.</a:t>
            </a:r>
          </a:p>
          <a:p>
            <a:r>
              <a:t>Inspect failures for the a=c and valid-200 assertions. Look for enabled reporting and upload messages.</a:t>
            </a:r>
          </a:p>
          <a:p>
            <a:r>
              <a:t>A red workflow is intentional for these known defects, but setup/network/authentication failures are not evidence of a classifier defect. Open the test logs and verify the failing assertion.</a:t>
            </a:r>
          </a:p>
          <a:p>
            <a:r>
              <a:t>GitHub requires write access to manually run a workflow; a fork can be used for an independent exercise.</a:t>
            </a:r>
          </a:p>
          <a:p>
            <a:r>
              <a:t>Source: https://docs.github.com/en/actions/how-tos/manage-workflow-runs/manually-run-a-workflow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screenshot: Qase Browser UI run 16 from GitHub workflow run 40702371101, commit 785557b.</a:t>
            </a:r>
          </a:p>
          <a:p>
            <a:r>
              <a:t>Run 15 is Direct Effect, started by Vitest. Run 16 is Browser UI, started by Playwright.</a:t>
            </a:r>
          </a:p>
          <a:p>
            <a:r>
              <a:t>Each has two Failed and two Passed results, so there are eight results across both runs.</a:t>
            </a:r>
          </a:p>
          <a:p>
            <a:r>
              <a:t>Open a Failed result. The a=c browser result expected an Isosceles heading and reports that it was not found. Direct tests show the expected/observed object mismatch.</a:t>
            </a:r>
          </a:p>
          <a:p>
            <a:r>
              <a:t>Case 01 and case 02 fail in both suites. Case 03 and case 04 pass in both suites.</a:t>
            </a:r>
          </a:p>
          <a:p>
            <a:r>
              <a:t>Qase may show a 100% completion rate, 4 of 4 results, while run status still says In Progress. Use Complete to close the run if needed. Do not treat the lifecycle status as the test outcome.</a:t>
            </a:r>
          </a:p>
          <a:p>
            <a:r>
              <a:t>Traceability: current code has no explicit Qase case IDs. Reporters match title and suite path. The automated repository entries may be separate from the manual cases. To share a case history, add the actual Qase IDs in both test files. Never invent IDs from this slide's 01-04 numbering.</a:t>
            </a:r>
          </a:p>
          <a:p>
            <a:r>
              <a:t>Do not dispatch a new workflow just to view these existing example results.</a:t>
            </a:r>
          </a:p>
          <a:p>
            <a:r>
              <a:t>Links: https://app.qase.io/run/TR/dashboard/15 ; https://app.qase.io/run/TR/dashboard/16</a:t>
            </a:r>
          </a:p>
          <a:p>
            <a:r>
              <a:t>Source: https://developers.qase.io/docs/linking-tests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testing needs only a browser and Qase. These local commands are for someone who wants to run the existing automation.</a:t>
            </a:r>
          </a:p>
          <a:p>
            <a:r>
              <a:t>Clone https://github.com/tiara-stack/triangle.git or your fork, cd triangle, pnpm install --frozen-lockfile.</a:t>
            </a:r>
          </a:p>
          <a:p>
            <a:r>
              <a:t>Install Chromium with node node_modules/@playwright/test/cli.js install chromium. On Linux, add --with-deps if system libraries are missing.</a:t>
            </a:r>
          </a:p>
          <a:p>
            <a:r>
              <a:t>Copy .env.local.example to .env.local. Set QASE_TESTOPS_PROJECT, QASE_VITEST_API_TOKEN and QASE_PLAYWRIGHT_API_TOKEN. Leave shared QASE_TESTOPS_API_TOKEN empty when using distinct app tokens.</a:t>
            </a:r>
          </a:p>
          <a:p>
            <a:r>
              <a:t>The file is already gitignored. Keep real token values private.</a:t>
            </a:r>
          </a:p>
          <a:p>
            <a:r>
              <a:t>Run pnpm test:performative:qase to execute both suites and upload. The script loads .env.local via Effect ConfigProvider; shell environment variables take precedence. It maps each app token to its corresponding reporter process.</a:t>
            </a:r>
          </a:p>
          <a:p>
            <a:r>
              <a:t>Run QASE_MODE=off pnpm test:performative for a rehearsal without publishing. Use pnpm test:performative:direct or pnpm test:performative:browser to select one suite. Add --qase to those scripts to publish.</a:t>
            </a:r>
          </a:p>
          <a:p>
            <a:r>
              <a:t>Playwright builds and starts the local app automatically. A nonzero exit due to the two known assertion failures is expected.</a:t>
            </a:r>
          </a:p>
          <a:p>
            <a:r>
              <a:t>Reporters are already installed: vitest-qase-reporter and playwright-qase-reporter. Conditional reporter configuration is in vitest.node.config.ts and playwright.config.ts. The script is scripts/performative-test.ts.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verify Qase access, four manual cases, GitHub tokens/variable and workflow permission. Rehearse once and keep the lab plus Qase tabs open.</a:t>
            </a:r>
          </a:p>
          <a:p>
            <a:r>
              <a:t>For speed, start GitHub automation first. While it works, execute the manual cases in order Equilateral, a=c, valid 200, 201 rejected.</a:t>
            </a:r>
          </a:p>
          <a:p>
            <a:r>
              <a:t>Complete the manual run after verifying 2 Passed and 2 Failed.</a:t>
            </a:r>
          </a:p>
          <a:p>
            <a:r>
              <a:t>Open the newest Direct Effect and Browser UI Qase runs. Each should have 4 results, 2 Passed and 2 Failed. Open one failed assertion to show the evidence.</a:t>
            </a:r>
          </a:p>
          <a:p>
            <a:r>
              <a:t>Explain: the classifier is faulty, and correct tests expose it. The expected result must remain the specification, not the observed faulty output.</a:t>
            </a:r>
          </a:p>
          <a:p>
            <a:r>
              <a:t>Case registration and result entry are separate actions. Creating a manual case does not automatically connect it to an automated test. The current code matches titles and suite paths, with no explicit Qase IDs. See the handout for this traceability note.</a:t>
            </a:r>
          </a:p>
          <a:p>
            <a:r>
              <a:t>Primary references: Qase first steps https://docs.qase.io/en/articles/5563688-getting-started ; Qase cases https://docs.qase.io/en/articles/5563704-test-cases ; Qase runs https://docs.qase.io/en/articles/5563702-test-runs ; reporter tokens https://developers.qase.io/docs/prerequisites ; linking https://developers.qase.io/docs/linking-tests ; GitHub manual dispatch https://docs.github.com/en/actions/how-tos/manage-workflow-runs/manually-run-a-workflow</a:t>
            </a:r>
          </a:p>
          <a:p>
            <a:r>
              <a:t>Image sources: real Triangle Lab and Qase project TR captures on 28 Oct 2026. Add result screenshot from official Qase Help Center GitHub article, https://docs.qase.io/en/articles/6417206-github .</a:t>
            </a:r>
          </a:p>
          <a:p>
            <a:r>
              <a:t>The guide and deck did not create any real test case, submit a result, or dispatch a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riangle.theerapakg.moe/" TargetMode="External"/><Relationship Id="rId5" Type="http://schemas.openxmlformats.org/officeDocument/2006/relationships/hyperlink" Target="https://app.qase.io/project/TR" TargetMode="External"/><Relationship Id="rId6" Type="http://schemas.openxmlformats.org/officeDocument/2006/relationships/hyperlink" Target="https://github.com/tiara-stack/triangl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github.com/tiara-stack/triangle/actions/workflows/performative.y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app.qase.io/run/TR/dashboard/16"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triangle.theerapakg.moe/" TargetMode="External"/><Relationship Id="rId4" Type="http://schemas.openxmlformats.org/officeDocument/2006/relationships/hyperlink" Target="https://app.qase.io/project/TR" TargetMode="External"/><Relationship Id="rId5" Type="http://schemas.openxmlformats.org/officeDocument/2006/relationships/hyperlink" Target="https://github.com/tiara-stack/triangle/actions/workflows/performative.y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243B"/>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B9B2FF"/>
                </a:solidFill>
                <a:latin typeface="DejaVu Sans"/>
              </a:rPr>
              <a:t>TRIANGLE TEST LAB / DEMONSTRATION</a:t>
            </a:r>
          </a:p>
        </p:txBody>
      </p:sp>
      <p:sp>
        <p:nvSpPr>
          <p:cNvPr id="3" name="TextBox 2"/>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A8B6CD"/>
                </a:solidFill>
                <a:latin typeface="DejaVu Sans"/>
              </a:rPr>
              <a:t>Qase project TR | 28 Oct 2026</a:t>
            </a:r>
          </a:p>
        </p:txBody>
      </p:sp>
      <p:sp>
        <p:nvSpPr>
          <p:cNvPr id="4" name="TextBox 3"/>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A8B6CD"/>
                </a:solidFill>
                <a:latin typeface="DejaVu Sans"/>
              </a:rPr>
              <a:t>01 / 10</a:t>
            </a:r>
          </a:p>
        </p:txBody>
      </p:sp>
      <p:sp>
        <p:nvSpPr>
          <p:cNvPr id="5" name="TextBox 4"/>
          <p:cNvSpPr txBox="1"/>
          <p:nvPr/>
        </p:nvSpPr>
        <p:spPr>
          <a:xfrm>
            <a:off x="558800" y="850900"/>
            <a:ext cx="10795000" cy="1333500"/>
          </a:xfrm>
          <a:prstGeom prst="rect">
            <a:avLst/>
          </a:prstGeom>
          <a:noFill/>
        </p:spPr>
        <p:txBody>
          <a:bodyPr wrap="none" lIns="0" rIns="0" tIns="0" bIns="0" anchor="t">
            <a:spAutoFit/>
          </a:bodyPr>
          <a:lstStyle/>
          <a:p>
            <a:pPr>
              <a:lnSpc>
                <a:spcPts val="5100"/>
              </a:lnSpc>
              <a:spcBef>
                <a:spcPts val="0"/>
              </a:spcBef>
              <a:spcAft>
                <a:spcPts val="0"/>
              </a:spcAft>
            </a:pPr>
            <a:r>
              <a:rPr sz="4300" b="1">
                <a:solidFill>
                  <a:srgbClr val="FFFFFF"/>
                </a:solidFill>
                <a:latin typeface="DejaVu Sans"/>
              </a:rPr>
              <a:t>Catch two defects</a:t>
            </a:r>
          </a:p>
          <a:p>
            <a:pPr>
              <a:lnSpc>
                <a:spcPts val="5100"/>
              </a:lnSpc>
              <a:spcBef>
                <a:spcPts val="0"/>
              </a:spcBef>
              <a:spcAft>
                <a:spcPts val="0"/>
              </a:spcAft>
            </a:pPr>
            <a:r>
              <a:rPr sz="4300" b="1">
                <a:solidFill>
                  <a:srgbClr val="FFFFFF"/>
                </a:solidFill>
                <a:latin typeface="DejaVu Sans"/>
              </a:rPr>
              <a:t>with four test cases</a:t>
            </a:r>
          </a:p>
        </p:txBody>
      </p:sp>
      <p:sp>
        <p:nvSpPr>
          <p:cNvPr id="6" name="TextBox 5"/>
          <p:cNvSpPr txBox="1"/>
          <p:nvPr/>
        </p:nvSpPr>
        <p:spPr>
          <a:xfrm>
            <a:off x="558800" y="2336800"/>
            <a:ext cx="10858500" cy="337312"/>
          </a:xfrm>
          <a:prstGeom prst="rect">
            <a:avLst/>
          </a:prstGeom>
          <a:noFill/>
        </p:spPr>
        <p:txBody>
          <a:bodyPr wrap="none" lIns="0" rIns="0" tIns="0" bIns="0" anchor="t">
            <a:spAutoFit/>
          </a:bodyPr>
          <a:lstStyle/>
          <a:p>
            <a:pPr>
              <a:lnSpc>
                <a:spcPts val="2356"/>
              </a:lnSpc>
              <a:spcBef>
                <a:spcPts val="0"/>
              </a:spcBef>
              <a:spcAft>
                <a:spcPts val="0"/>
              </a:spcAft>
            </a:pPr>
            <a:r>
              <a:rPr sz="1900" b="0">
                <a:solidFill>
                  <a:srgbClr val="CDD5E4"/>
                </a:solidFill>
                <a:latin typeface="DejaVu Sans"/>
              </a:rPr>
              <a:t>Set up Qase, run the cases manually, then report automated checks.</a:t>
            </a:r>
          </a:p>
        </p:txBody>
      </p:sp>
      <p:pic>
        <p:nvPicPr>
          <p:cNvPr id="7" name="Picture 6" descr="lab-ac-input-result.png"/>
          <p:cNvPicPr>
            <a:picLocks noChangeAspect="1"/>
          </p:cNvPicPr>
          <p:nvPr/>
        </p:nvPicPr>
        <p:blipFill>
          <a:blip r:embed="rId3"/>
          <a:stretch>
            <a:fillRect/>
          </a:stretch>
        </p:blipFill>
        <p:spPr>
          <a:xfrm>
            <a:off x="558800" y="3136900"/>
            <a:ext cx="7175500" cy="2843122"/>
          </a:xfrm>
          <a:prstGeom prst="rect">
            <a:avLst/>
          </a:prstGeom>
        </p:spPr>
      </p:pic>
      <p:sp>
        <p:nvSpPr>
          <p:cNvPr id="8" name="TextBox 7"/>
          <p:cNvSpPr txBox="1"/>
          <p:nvPr/>
        </p:nvSpPr>
        <p:spPr>
          <a:xfrm>
            <a:off x="8356600" y="3378200"/>
            <a:ext cx="3111500" cy="605028"/>
          </a:xfrm>
          <a:prstGeom prst="rect">
            <a:avLst/>
          </a:prstGeom>
          <a:noFill/>
        </p:spPr>
        <p:txBody>
          <a:bodyPr wrap="none" lIns="0" rIns="0" tIns="0" bIns="0" anchor="t">
            <a:spAutoFit/>
          </a:bodyPr>
          <a:lstStyle/>
          <a:p>
            <a:pPr>
              <a:lnSpc>
                <a:spcPts val="4464"/>
              </a:lnSpc>
              <a:spcBef>
                <a:spcPts val="0"/>
              </a:spcBef>
              <a:spcAft>
                <a:spcPts val="0"/>
              </a:spcAft>
            </a:pPr>
            <a:r>
              <a:rPr sz="3600" b="1">
                <a:solidFill>
                  <a:srgbClr val="65D7BE"/>
                </a:solidFill>
                <a:latin typeface="DejaVu Sans"/>
              </a:rPr>
              <a:t>2 passed</a:t>
            </a:r>
          </a:p>
        </p:txBody>
      </p:sp>
      <p:sp>
        <p:nvSpPr>
          <p:cNvPr id="9" name="TextBox 8"/>
          <p:cNvSpPr txBox="1"/>
          <p:nvPr/>
        </p:nvSpPr>
        <p:spPr>
          <a:xfrm>
            <a:off x="8356600" y="4051300"/>
            <a:ext cx="3111500" cy="605028"/>
          </a:xfrm>
          <a:prstGeom prst="rect">
            <a:avLst/>
          </a:prstGeom>
          <a:noFill/>
        </p:spPr>
        <p:txBody>
          <a:bodyPr wrap="none" lIns="0" rIns="0" tIns="0" bIns="0" anchor="t">
            <a:spAutoFit/>
          </a:bodyPr>
          <a:lstStyle/>
          <a:p>
            <a:pPr>
              <a:lnSpc>
                <a:spcPts val="4464"/>
              </a:lnSpc>
              <a:spcBef>
                <a:spcPts val="0"/>
              </a:spcBef>
              <a:spcAft>
                <a:spcPts val="0"/>
              </a:spcAft>
            </a:pPr>
            <a:r>
              <a:rPr sz="3600" b="1">
                <a:solidFill>
                  <a:srgbClr val="FF93A2"/>
                </a:solidFill>
                <a:latin typeface="DejaVu Sans"/>
              </a:rPr>
              <a:t>2 failed</a:t>
            </a:r>
          </a:p>
        </p:txBody>
      </p:sp>
      <p:sp>
        <p:nvSpPr>
          <p:cNvPr id="10" name="TextBox 9"/>
          <p:cNvSpPr txBox="1"/>
          <p:nvPr/>
        </p:nvSpPr>
        <p:spPr>
          <a:xfrm>
            <a:off x="8356600" y="4800600"/>
            <a:ext cx="3175000" cy="622300"/>
          </a:xfrm>
          <a:prstGeom prst="rect">
            <a:avLst/>
          </a:prstGeom>
          <a:noFill/>
        </p:spPr>
        <p:txBody>
          <a:bodyPr wrap="none" lIns="0" rIns="0" tIns="0" bIns="0" anchor="t">
            <a:spAutoFit/>
          </a:bodyPr>
          <a:lstStyle/>
          <a:p>
            <a:pPr>
              <a:lnSpc>
                <a:spcPts val="2300"/>
              </a:lnSpc>
              <a:spcBef>
                <a:spcPts val="0"/>
              </a:spcBef>
              <a:spcAft>
                <a:spcPts val="0"/>
              </a:spcAft>
            </a:pPr>
            <a:r>
              <a:rPr sz="1700" b="0">
                <a:solidFill>
                  <a:srgbClr val="CDD5E4"/>
                </a:solidFill>
                <a:latin typeface="DejaVu Sans"/>
              </a:rPr>
              <a:t>Expected in the manual run</a:t>
            </a:r>
          </a:p>
          <a:p>
            <a:pPr>
              <a:lnSpc>
                <a:spcPts val="2300"/>
              </a:lnSpc>
              <a:spcBef>
                <a:spcPts val="0"/>
              </a:spcBef>
              <a:spcAft>
                <a:spcPts val="0"/>
              </a:spcAft>
            </a:pPr>
            <a:r>
              <a:rPr sz="1700" b="0">
                <a:solidFill>
                  <a:srgbClr val="CDD5E4"/>
                </a:solidFill>
                <a:latin typeface="DejaVu Sans"/>
              </a:rPr>
              <a:t>and each automated suite.</a:t>
            </a:r>
          </a:p>
        </p:txBody>
      </p:sp>
      <p:sp>
        <p:nvSpPr>
          <p:cNvPr id="11" name="TextBox 10"/>
          <p:cNvSpPr txBox="1"/>
          <p:nvPr/>
        </p:nvSpPr>
        <p:spPr>
          <a:xfrm>
            <a:off x="558800" y="6146800"/>
            <a:ext cx="1651000" cy="242824"/>
          </a:xfrm>
          <a:prstGeom prst="rect">
            <a:avLst/>
          </a:prstGeom>
          <a:noFill/>
        </p:spPr>
        <p:txBody>
          <a:bodyPr wrap="none" lIns="0" rIns="0" tIns="0" bIns="0" anchor="t">
            <a:spAutoFit/>
          </a:bodyPr>
          <a:lstStyle/>
          <a:p>
            <a:pPr>
              <a:lnSpc>
                <a:spcPts val="1612"/>
              </a:lnSpc>
              <a:spcBef>
                <a:spcPts val="0"/>
              </a:spcBef>
              <a:spcAft>
                <a:spcPts val="0"/>
              </a:spcAft>
            </a:pPr>
            <a:r>
              <a:rPr sz="1300" b="0">
                <a:solidFill>
                  <a:srgbClr val="B9B2FF"/>
                </a:solidFill>
                <a:latin typeface="DejaVu Sans"/>
                <a:hlinkClick r:id="rId4"/>
              </a:rPr>
              <a:t>Open lab</a:t>
            </a:r>
          </a:p>
        </p:txBody>
      </p:sp>
      <p:sp>
        <p:nvSpPr>
          <p:cNvPr id="12" name="TextBox 11"/>
          <p:cNvSpPr txBox="1"/>
          <p:nvPr/>
        </p:nvSpPr>
        <p:spPr>
          <a:xfrm>
            <a:off x="2349500" y="6146800"/>
            <a:ext cx="1778000" cy="242824"/>
          </a:xfrm>
          <a:prstGeom prst="rect">
            <a:avLst/>
          </a:prstGeom>
          <a:noFill/>
        </p:spPr>
        <p:txBody>
          <a:bodyPr wrap="none" lIns="0" rIns="0" tIns="0" bIns="0" anchor="t">
            <a:spAutoFit/>
          </a:bodyPr>
          <a:lstStyle/>
          <a:p>
            <a:pPr>
              <a:lnSpc>
                <a:spcPts val="1612"/>
              </a:lnSpc>
              <a:spcBef>
                <a:spcPts val="0"/>
              </a:spcBef>
              <a:spcAft>
                <a:spcPts val="0"/>
              </a:spcAft>
            </a:pPr>
            <a:r>
              <a:rPr sz="1300" b="0">
                <a:solidFill>
                  <a:srgbClr val="B9B2FF"/>
                </a:solidFill>
                <a:latin typeface="DejaVu Sans"/>
                <a:hlinkClick r:id="rId5"/>
              </a:rPr>
              <a:t>Open Qase</a:t>
            </a:r>
          </a:p>
        </p:txBody>
      </p:sp>
      <p:sp>
        <p:nvSpPr>
          <p:cNvPr id="13" name="TextBox 12"/>
          <p:cNvSpPr txBox="1"/>
          <p:nvPr/>
        </p:nvSpPr>
        <p:spPr>
          <a:xfrm>
            <a:off x="4279900" y="6146800"/>
            <a:ext cx="2286000" cy="242824"/>
          </a:xfrm>
          <a:prstGeom prst="rect">
            <a:avLst/>
          </a:prstGeom>
          <a:noFill/>
        </p:spPr>
        <p:txBody>
          <a:bodyPr wrap="none" lIns="0" rIns="0" tIns="0" bIns="0" anchor="t">
            <a:spAutoFit/>
          </a:bodyPr>
          <a:lstStyle/>
          <a:p>
            <a:pPr>
              <a:lnSpc>
                <a:spcPts val="1612"/>
              </a:lnSpc>
              <a:spcBef>
                <a:spcPts val="0"/>
              </a:spcBef>
              <a:spcAft>
                <a:spcPts val="0"/>
              </a:spcAft>
            </a:pPr>
            <a:r>
              <a:rPr sz="1300" b="0">
                <a:solidFill>
                  <a:srgbClr val="B9B2FF"/>
                </a:solidFill>
                <a:latin typeface="DejaVu Sans"/>
                <a:hlinkClick r:id="rId6"/>
              </a:rPr>
              <a:t>Open GitHub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SETUP 1 / QASE</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Start with a Qase project</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Prepare access and the place where the cases will live.</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02 / 10</a:t>
            </a:r>
          </a:p>
        </p:txBody>
      </p:sp>
      <p:pic>
        <p:nvPicPr>
          <p:cNvPr id="7" name="Picture 6" descr="qase-create-menu-crop.png"/>
          <p:cNvPicPr>
            <a:picLocks noChangeAspect="1"/>
          </p:cNvPicPr>
          <p:nvPr/>
        </p:nvPicPr>
        <p:blipFill>
          <a:blip r:embed="rId3"/>
          <a:stretch>
            <a:fillRect/>
          </a:stretch>
        </p:blipFill>
        <p:spPr>
          <a:xfrm>
            <a:off x="558800" y="1981200"/>
            <a:ext cx="11074400" cy="2041940"/>
          </a:xfrm>
          <a:prstGeom prst="rect">
            <a:avLst/>
          </a:prstGeom>
        </p:spPr>
      </p:pic>
      <p:sp>
        <p:nvSpPr>
          <p:cNvPr id="8" name="Rounded Rectangle 7"/>
          <p:cNvSpPr/>
          <p:nvPr/>
        </p:nvSpPr>
        <p:spPr>
          <a:xfrm>
            <a:off x="558800" y="4318000"/>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4356100"/>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1</a:t>
            </a:r>
          </a:p>
        </p:txBody>
      </p:sp>
      <p:sp>
        <p:nvSpPr>
          <p:cNvPr id="10" name="TextBox 9"/>
          <p:cNvSpPr txBox="1"/>
          <p:nvPr/>
        </p:nvSpPr>
        <p:spPr>
          <a:xfrm>
            <a:off x="1092200" y="4292600"/>
            <a:ext cx="105410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Sign in or accept a workspace invitation</a:t>
            </a:r>
          </a:p>
        </p:txBody>
      </p:sp>
      <p:sp>
        <p:nvSpPr>
          <p:cNvPr id="11" name="TextBox 10"/>
          <p:cNvSpPr txBox="1"/>
          <p:nvPr/>
        </p:nvSpPr>
        <p:spPr>
          <a:xfrm>
            <a:off x="1092200" y="4639564"/>
            <a:ext cx="105410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Open Projects, then reuse Triangle, code TR, or create your own project.</a:t>
            </a:r>
          </a:p>
        </p:txBody>
      </p:sp>
      <p:sp>
        <p:nvSpPr>
          <p:cNvPr id="12" name="Rounded Rectangle 11"/>
          <p:cNvSpPr/>
          <p:nvPr/>
        </p:nvSpPr>
        <p:spPr>
          <a:xfrm>
            <a:off x="558800" y="5145532"/>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400" y="5183632"/>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2</a:t>
            </a:r>
          </a:p>
        </p:txBody>
      </p:sp>
      <p:sp>
        <p:nvSpPr>
          <p:cNvPr id="14" name="TextBox 13"/>
          <p:cNvSpPr txBox="1"/>
          <p:nvPr/>
        </p:nvSpPr>
        <p:spPr>
          <a:xfrm>
            <a:off x="1092200" y="5120132"/>
            <a:ext cx="105410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Create a suite in Repository</a:t>
            </a:r>
          </a:p>
        </p:txBody>
      </p:sp>
      <p:sp>
        <p:nvSpPr>
          <p:cNvPr id="15" name="TextBox 14"/>
          <p:cNvSpPr txBox="1"/>
          <p:nvPr/>
        </p:nvSpPr>
        <p:spPr>
          <a:xfrm>
            <a:off x="1092200" y="5467095"/>
            <a:ext cx="105410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Use the plus beside Suites. Name it Triangle demo - four cases.</a:t>
            </a:r>
          </a:p>
        </p:txBody>
      </p:sp>
      <p:sp>
        <p:nvSpPr>
          <p:cNvPr id="16" name="TextBox 15"/>
          <p:cNvSpPr txBox="1"/>
          <p:nvPr/>
        </p:nvSpPr>
        <p:spPr>
          <a:xfrm>
            <a:off x="558800" y="6019800"/>
            <a:ext cx="11074400" cy="353060"/>
          </a:xfrm>
          <a:prstGeom prst="rect">
            <a:avLst/>
          </a:prstGeom>
          <a:noFill/>
        </p:spPr>
        <p:txBody>
          <a:bodyPr wrap="none" lIns="0" rIns="0" tIns="0" bIns="0" anchor="t">
            <a:spAutoFit/>
          </a:bodyPr>
          <a:lstStyle/>
          <a:p>
            <a:pPr>
              <a:lnSpc>
                <a:spcPts val="2480"/>
              </a:lnSpc>
              <a:spcBef>
                <a:spcPts val="0"/>
              </a:spcBef>
              <a:spcAft>
                <a:spcPts val="0"/>
              </a:spcAft>
            </a:pPr>
            <a:r>
              <a:rPr sz="2000" b="1">
                <a:solidFill>
                  <a:srgbClr val="6453CC"/>
                </a:solidFill>
                <a:latin typeface="DejaVu Sans"/>
              </a:rPr>
              <a:t>Project &gt; Suite &gt; Case &gt; 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SETUP 2 / REPORTING</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Connect the two reporters</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Configure this once in your Qase workspace and GitHub repository.</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03 / 10</a:t>
            </a:r>
          </a:p>
        </p:txBody>
      </p:sp>
      <p:sp>
        <p:nvSpPr>
          <p:cNvPr id="7" name="TextBox 6"/>
          <p:cNvSpPr txBox="1"/>
          <p:nvPr/>
        </p:nvSpPr>
        <p:spPr>
          <a:xfrm>
            <a:off x="558800" y="1981200"/>
            <a:ext cx="110744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Qase Apps &gt; Vitest and Playwright &gt; Activate &gt; Access tokens</a:t>
            </a:r>
          </a:p>
        </p:txBody>
      </p:sp>
      <p:sp>
        <p:nvSpPr>
          <p:cNvPr id="8" name="TextBox 7"/>
          <p:cNvSpPr txBox="1"/>
          <p:nvPr/>
        </p:nvSpPr>
        <p:spPr>
          <a:xfrm>
            <a:off x="558800" y="2374900"/>
            <a:ext cx="11074400" cy="305816"/>
          </a:xfrm>
          <a:prstGeom prst="rect">
            <a:avLst/>
          </a:prstGeom>
          <a:noFill/>
        </p:spPr>
        <p:txBody>
          <a:bodyPr wrap="none" lIns="0" rIns="0" tIns="0" bIns="0" anchor="t">
            <a:spAutoFit/>
          </a:bodyPr>
          <a:lstStyle/>
          <a:p>
            <a:pPr>
              <a:lnSpc>
                <a:spcPts val="2108"/>
              </a:lnSpc>
              <a:spcBef>
                <a:spcPts val="0"/>
              </a:spcBef>
              <a:spcAft>
                <a:spcPts val="0"/>
              </a:spcAft>
            </a:pPr>
            <a:r>
              <a:rPr sz="1700" b="0">
                <a:solidFill>
                  <a:srgbClr val="536279"/>
                </a:solidFill>
                <a:latin typeface="DejaVu Sans"/>
              </a:rPr>
              <a:t>Create one token for each app.</a:t>
            </a:r>
          </a:p>
        </p:txBody>
      </p:sp>
      <p:sp>
        <p:nvSpPr>
          <p:cNvPr id="9" name="TextBox 8"/>
          <p:cNvSpPr txBox="1"/>
          <p:nvPr/>
        </p:nvSpPr>
        <p:spPr>
          <a:xfrm>
            <a:off x="558800" y="2946400"/>
            <a:ext cx="110744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GitHub &gt; Settings &gt; Secrets and variables &gt; Actions</a:t>
            </a:r>
          </a:p>
        </p:txBody>
      </p:sp>
      <p:sp>
        <p:nvSpPr>
          <p:cNvPr id="10" name="Rectangle 9"/>
          <p:cNvSpPr/>
          <p:nvPr/>
        </p:nvSpPr>
        <p:spPr>
          <a:xfrm>
            <a:off x="558800" y="3429000"/>
            <a:ext cx="11074400" cy="431800"/>
          </a:xfrm>
          <a:prstGeom prst="rect">
            <a:avLst/>
          </a:prstGeom>
          <a:solidFill>
            <a:srgbClr val="18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900" y="3530600"/>
            <a:ext cx="65405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FFFFFF"/>
                </a:solidFill>
                <a:latin typeface="DejaVu Sans"/>
              </a:rPr>
              <a:t>Setting name</a:t>
            </a:r>
          </a:p>
        </p:txBody>
      </p:sp>
      <p:sp>
        <p:nvSpPr>
          <p:cNvPr id="12" name="TextBox 11"/>
          <p:cNvSpPr txBox="1"/>
          <p:nvPr/>
        </p:nvSpPr>
        <p:spPr>
          <a:xfrm>
            <a:off x="7493000" y="3530600"/>
            <a:ext cx="38100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FFFFFF"/>
                </a:solidFill>
                <a:latin typeface="DejaVu Sans"/>
              </a:rPr>
              <a:t>Where / value</a:t>
            </a:r>
          </a:p>
        </p:txBody>
      </p:sp>
      <p:sp>
        <p:nvSpPr>
          <p:cNvPr id="13" name="Rectangle 12"/>
          <p:cNvSpPr/>
          <p:nvPr/>
        </p:nvSpPr>
        <p:spPr>
          <a:xfrm>
            <a:off x="558800" y="3860800"/>
            <a:ext cx="110744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4013200"/>
            <a:ext cx="65405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18243B"/>
                </a:solidFill>
                <a:latin typeface="DejaVu Sans Mono"/>
              </a:rPr>
              <a:t>QASE_TESTOPS_PROJECT</a:t>
            </a:r>
          </a:p>
        </p:txBody>
      </p:sp>
      <p:sp>
        <p:nvSpPr>
          <p:cNvPr id="15" name="TextBox 14"/>
          <p:cNvSpPr txBox="1"/>
          <p:nvPr/>
        </p:nvSpPr>
        <p:spPr>
          <a:xfrm>
            <a:off x="7493000" y="4013200"/>
            <a:ext cx="39370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18243B"/>
                </a:solidFill>
                <a:latin typeface="DejaVu Sans"/>
              </a:rPr>
              <a:t>Variable / TR</a:t>
            </a:r>
          </a:p>
        </p:txBody>
      </p:sp>
      <p:sp>
        <p:nvSpPr>
          <p:cNvPr id="16" name="Rectangle 15"/>
          <p:cNvSpPr/>
          <p:nvPr/>
        </p:nvSpPr>
        <p:spPr>
          <a:xfrm>
            <a:off x="558800" y="4432300"/>
            <a:ext cx="11074400" cy="571500"/>
          </a:xfrm>
          <a:prstGeom prst="rect">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900" y="4584700"/>
            <a:ext cx="65405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18243B"/>
                </a:solidFill>
                <a:latin typeface="DejaVu Sans Mono"/>
              </a:rPr>
              <a:t>QASE_VITEST_API_TOKEN</a:t>
            </a:r>
          </a:p>
        </p:txBody>
      </p:sp>
      <p:sp>
        <p:nvSpPr>
          <p:cNvPr id="18" name="TextBox 17"/>
          <p:cNvSpPr txBox="1"/>
          <p:nvPr/>
        </p:nvSpPr>
        <p:spPr>
          <a:xfrm>
            <a:off x="7493000" y="4584700"/>
            <a:ext cx="39370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18243B"/>
                </a:solidFill>
                <a:latin typeface="DejaVu Sans"/>
              </a:rPr>
              <a:t>Secret / Vitest app token</a:t>
            </a:r>
          </a:p>
        </p:txBody>
      </p:sp>
      <p:sp>
        <p:nvSpPr>
          <p:cNvPr id="19" name="Rectangle 18"/>
          <p:cNvSpPr/>
          <p:nvPr/>
        </p:nvSpPr>
        <p:spPr>
          <a:xfrm>
            <a:off x="558800" y="5003800"/>
            <a:ext cx="110744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156200"/>
            <a:ext cx="65405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18243B"/>
                </a:solidFill>
                <a:latin typeface="DejaVu Sans Mono"/>
              </a:rPr>
              <a:t>QASE_PLAYWRIGHT_API_TOKEN</a:t>
            </a:r>
          </a:p>
        </p:txBody>
      </p:sp>
      <p:sp>
        <p:nvSpPr>
          <p:cNvPr id="21" name="TextBox 20"/>
          <p:cNvSpPr txBox="1"/>
          <p:nvPr/>
        </p:nvSpPr>
        <p:spPr>
          <a:xfrm>
            <a:off x="7493000" y="5156200"/>
            <a:ext cx="39370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18243B"/>
                </a:solidFill>
                <a:latin typeface="DejaVu Sans"/>
              </a:rPr>
              <a:t>Secret / Playwright app token</a:t>
            </a:r>
          </a:p>
        </p:txBody>
      </p:sp>
      <p:sp>
        <p:nvSpPr>
          <p:cNvPr id="22" name="TextBox 21"/>
          <p:cNvSpPr txBox="1"/>
          <p:nvPr/>
        </p:nvSpPr>
        <p:spPr>
          <a:xfrm>
            <a:off x="558800" y="5867400"/>
            <a:ext cx="11074400" cy="305816"/>
          </a:xfrm>
          <a:prstGeom prst="rect">
            <a:avLst/>
          </a:prstGeom>
          <a:noFill/>
        </p:spPr>
        <p:txBody>
          <a:bodyPr wrap="none" lIns="0" rIns="0" tIns="0" bIns="0" anchor="t">
            <a:spAutoFit/>
          </a:bodyPr>
          <a:lstStyle/>
          <a:p>
            <a:pPr>
              <a:lnSpc>
                <a:spcPts val="2108"/>
              </a:lnSpc>
              <a:spcBef>
                <a:spcPts val="0"/>
              </a:spcBef>
              <a:spcAft>
                <a:spcPts val="0"/>
              </a:spcAft>
            </a:pPr>
            <a:r>
              <a:rPr sz="1700" b="0">
                <a:solidFill>
                  <a:srgbClr val="536279"/>
                </a:solidFill>
                <a:latin typeface="DejaVu Sans"/>
              </a:rPr>
              <a:t>The existing workflow installs the reporters and sends both suites to Qase.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QASE REPOSITORY</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Register each case with an expected result</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Use the specification when writing the case. Record the faulty output during execution.</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04 / 10</a:t>
            </a:r>
          </a:p>
        </p:txBody>
      </p:sp>
      <p:sp>
        <p:nvSpPr>
          <p:cNvPr id="7" name="Rounded Rectangle 6"/>
          <p:cNvSpPr/>
          <p:nvPr/>
        </p:nvSpPr>
        <p:spPr>
          <a:xfrm>
            <a:off x="558800" y="2019300"/>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2057400"/>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1</a:t>
            </a:r>
          </a:p>
        </p:txBody>
      </p:sp>
      <p:sp>
        <p:nvSpPr>
          <p:cNvPr id="9" name="TextBox 8"/>
          <p:cNvSpPr txBox="1"/>
          <p:nvPr/>
        </p:nvSpPr>
        <p:spPr>
          <a:xfrm>
            <a:off x="1092200" y="1993900"/>
            <a:ext cx="105410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Manual test &gt; Create manually</a:t>
            </a:r>
          </a:p>
        </p:txBody>
      </p:sp>
      <p:sp>
        <p:nvSpPr>
          <p:cNvPr id="10" name="TextBox 9"/>
          <p:cNvSpPr txBox="1"/>
          <p:nvPr/>
        </p:nvSpPr>
        <p:spPr>
          <a:xfrm>
            <a:off x="1092200" y="2340864"/>
            <a:ext cx="105410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Choose the suite. Set Automation status to Manual and Type to Functional.</a:t>
            </a:r>
          </a:p>
        </p:txBody>
      </p:sp>
      <p:sp>
        <p:nvSpPr>
          <p:cNvPr id="11" name="TextBox 10"/>
          <p:cNvSpPr txBox="1"/>
          <p:nvPr/>
        </p:nvSpPr>
        <p:spPr>
          <a:xfrm>
            <a:off x="558800" y="3124200"/>
            <a:ext cx="15240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536279"/>
                </a:solidFill>
                <a:latin typeface="DejaVu Sans"/>
              </a:rPr>
              <a:t>Title</a:t>
            </a:r>
          </a:p>
        </p:txBody>
      </p:sp>
      <p:sp>
        <p:nvSpPr>
          <p:cNvPr id="12" name="TextBox 11"/>
          <p:cNvSpPr txBox="1"/>
          <p:nvPr/>
        </p:nvSpPr>
        <p:spPr>
          <a:xfrm>
            <a:off x="2184400" y="3073400"/>
            <a:ext cx="9398000" cy="400304"/>
          </a:xfrm>
          <a:prstGeom prst="rect">
            <a:avLst/>
          </a:prstGeom>
          <a:noFill/>
        </p:spPr>
        <p:txBody>
          <a:bodyPr wrap="none" lIns="0" rIns="0" tIns="0" bIns="0" anchor="t">
            <a:spAutoFit/>
          </a:bodyPr>
          <a:lstStyle/>
          <a:p>
            <a:pPr>
              <a:lnSpc>
                <a:spcPts val="2852"/>
              </a:lnSpc>
              <a:spcBef>
                <a:spcPts val="0"/>
              </a:spcBef>
              <a:spcAft>
                <a:spcPts val="0"/>
              </a:spcAft>
            </a:pPr>
            <a:r>
              <a:rPr sz="2300" b="1">
                <a:solidFill>
                  <a:srgbClr val="18243B"/>
                </a:solidFill>
                <a:latin typeface="DejaVu Sans"/>
              </a:rPr>
              <a:t>Classifies a = c as Isosceles</a:t>
            </a:r>
          </a:p>
        </p:txBody>
      </p:sp>
      <p:sp>
        <p:nvSpPr>
          <p:cNvPr id="13" name="TextBox 12"/>
          <p:cNvSpPr txBox="1"/>
          <p:nvPr/>
        </p:nvSpPr>
        <p:spPr>
          <a:xfrm>
            <a:off x="558800" y="36322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1">
                <a:solidFill>
                  <a:srgbClr val="6453CC"/>
                </a:solidFill>
                <a:latin typeface="DejaVu Sans"/>
              </a:rPr>
              <a:t>Classic step: action, data, expected result</a:t>
            </a:r>
          </a:p>
        </p:txBody>
      </p:sp>
      <p:pic>
        <p:nvPicPr>
          <p:cNvPr id="14" name="Picture 13" descr="qase-case-steps-crop.png"/>
          <p:cNvPicPr>
            <a:picLocks noChangeAspect="1"/>
          </p:cNvPicPr>
          <p:nvPr/>
        </p:nvPicPr>
        <p:blipFill>
          <a:blip r:embed="rId3"/>
          <a:stretch>
            <a:fillRect/>
          </a:stretch>
        </p:blipFill>
        <p:spPr>
          <a:xfrm>
            <a:off x="558800" y="4000500"/>
            <a:ext cx="9603081" cy="2209800"/>
          </a:xfrm>
          <a:prstGeom prst="rect">
            <a:avLst/>
          </a:prstGeom>
        </p:spPr>
      </p:pic>
      <p:sp>
        <p:nvSpPr>
          <p:cNvPr id="15" name="TextBox 14"/>
          <p:cNvSpPr txBox="1"/>
          <p:nvPr/>
        </p:nvSpPr>
        <p:spPr>
          <a:xfrm>
            <a:off x="558800" y="6261100"/>
            <a:ext cx="11074400" cy="227076"/>
          </a:xfrm>
          <a:prstGeom prst="rect">
            <a:avLst/>
          </a:prstGeom>
          <a:noFill/>
        </p:spPr>
        <p:txBody>
          <a:bodyPr wrap="none" lIns="0" rIns="0" tIns="0" bIns="0" anchor="t">
            <a:spAutoFit/>
          </a:bodyPr>
          <a:lstStyle/>
          <a:p>
            <a:pPr>
              <a:lnSpc>
                <a:spcPts val="1488"/>
              </a:lnSpc>
              <a:spcBef>
                <a:spcPts val="0"/>
              </a:spcBef>
              <a:spcAft>
                <a:spcPts val="0"/>
              </a:spcAft>
            </a:pPr>
            <a:r>
              <a:rPr sz="1200" b="0">
                <a:solidFill>
                  <a:srgbClr val="536279"/>
                </a:solidFill>
                <a:latin typeface="DejaVu Sans"/>
              </a:rPr>
              <a:t>Repeat with the other three inputs and expected results on the next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THE ANSWER SHEET</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Four inputs, four expected results</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These are the four cases in the current demonstration.</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05 / 10</a:t>
            </a:r>
          </a:p>
        </p:txBody>
      </p:sp>
      <p:sp>
        <p:nvSpPr>
          <p:cNvPr id="7" name="Rectangle 6"/>
          <p:cNvSpPr/>
          <p:nvPr/>
        </p:nvSpPr>
        <p:spPr>
          <a:xfrm>
            <a:off x="558800" y="1981200"/>
            <a:ext cx="11074400" cy="546100"/>
          </a:xfrm>
          <a:prstGeom prst="rect">
            <a:avLst/>
          </a:prstGeom>
          <a:solidFill>
            <a:srgbClr val="18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2146300"/>
            <a:ext cx="24511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FFFFFF"/>
                </a:solidFill>
                <a:latin typeface="DejaVu Sans"/>
              </a:rPr>
              <a:t>Case</a:t>
            </a:r>
          </a:p>
        </p:txBody>
      </p:sp>
      <p:sp>
        <p:nvSpPr>
          <p:cNvPr id="9" name="TextBox 8"/>
          <p:cNvSpPr txBox="1"/>
          <p:nvPr/>
        </p:nvSpPr>
        <p:spPr>
          <a:xfrm>
            <a:off x="3390900" y="2146300"/>
            <a:ext cx="12319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FFFFFF"/>
                </a:solidFill>
                <a:latin typeface="DejaVu Sans"/>
              </a:rPr>
              <a:t>a, b, c</a:t>
            </a:r>
          </a:p>
        </p:txBody>
      </p:sp>
      <p:sp>
        <p:nvSpPr>
          <p:cNvPr id="10" name="TextBox 9"/>
          <p:cNvSpPr txBox="1"/>
          <p:nvPr/>
        </p:nvSpPr>
        <p:spPr>
          <a:xfrm>
            <a:off x="4864100" y="2146300"/>
            <a:ext cx="19177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FFFFFF"/>
                </a:solidFill>
                <a:latin typeface="DejaVu Sans"/>
              </a:rPr>
              <a:t>Expected</a:t>
            </a:r>
          </a:p>
        </p:txBody>
      </p:sp>
      <p:sp>
        <p:nvSpPr>
          <p:cNvPr id="11" name="TextBox 10"/>
          <p:cNvSpPr txBox="1"/>
          <p:nvPr/>
        </p:nvSpPr>
        <p:spPr>
          <a:xfrm>
            <a:off x="7023100" y="2146300"/>
            <a:ext cx="29337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FFFFFF"/>
                </a:solidFill>
                <a:latin typeface="DejaVu Sans"/>
              </a:rPr>
              <a:t>Actual output</a:t>
            </a:r>
          </a:p>
        </p:txBody>
      </p:sp>
      <p:sp>
        <p:nvSpPr>
          <p:cNvPr id="12" name="TextBox 11"/>
          <p:cNvSpPr txBox="1"/>
          <p:nvPr/>
        </p:nvSpPr>
        <p:spPr>
          <a:xfrm>
            <a:off x="10198100" y="2146300"/>
            <a:ext cx="1333500" cy="258572"/>
          </a:xfrm>
          <a:prstGeom prst="rect">
            <a:avLst/>
          </a:prstGeom>
          <a:noFill/>
        </p:spPr>
        <p:txBody>
          <a:bodyPr wrap="none" lIns="0" rIns="0" tIns="0" bIns="0" anchor="t">
            <a:spAutoFit/>
          </a:bodyPr>
          <a:lstStyle/>
          <a:p>
            <a:pPr>
              <a:lnSpc>
                <a:spcPts val="1736"/>
              </a:lnSpc>
              <a:spcBef>
                <a:spcPts val="0"/>
              </a:spcBef>
              <a:spcAft>
                <a:spcPts val="0"/>
              </a:spcAft>
            </a:pPr>
            <a:r>
              <a:rPr sz="1400" b="1">
                <a:solidFill>
                  <a:srgbClr val="FFFFFF"/>
                </a:solidFill>
                <a:latin typeface="DejaVu Sans"/>
              </a:rPr>
              <a:t>Record</a:t>
            </a:r>
          </a:p>
        </p:txBody>
      </p:sp>
      <p:sp>
        <p:nvSpPr>
          <p:cNvPr id="13" name="Rectangle 12"/>
          <p:cNvSpPr/>
          <p:nvPr/>
        </p:nvSpPr>
        <p:spPr>
          <a:xfrm>
            <a:off x="558800" y="2527300"/>
            <a:ext cx="11074400" cy="78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8500" y="2717800"/>
            <a:ext cx="24511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18243B"/>
                </a:solidFill>
                <a:latin typeface="DejaVu Sans"/>
              </a:rPr>
              <a:t>01 a and c match</a:t>
            </a:r>
          </a:p>
        </p:txBody>
      </p:sp>
      <p:sp>
        <p:nvSpPr>
          <p:cNvPr id="15" name="TextBox 14"/>
          <p:cNvSpPr txBox="1"/>
          <p:nvPr/>
        </p:nvSpPr>
        <p:spPr>
          <a:xfrm>
            <a:off x="3390900" y="2717800"/>
            <a:ext cx="12319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2, 1, 2</a:t>
            </a:r>
          </a:p>
        </p:txBody>
      </p:sp>
      <p:sp>
        <p:nvSpPr>
          <p:cNvPr id="16" name="TextBox 15"/>
          <p:cNvSpPr txBox="1"/>
          <p:nvPr/>
        </p:nvSpPr>
        <p:spPr>
          <a:xfrm>
            <a:off x="4864100" y="2717800"/>
            <a:ext cx="19177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Isosceles</a:t>
            </a:r>
          </a:p>
        </p:txBody>
      </p:sp>
      <p:sp>
        <p:nvSpPr>
          <p:cNvPr id="17" name="TextBox 16"/>
          <p:cNvSpPr txBox="1"/>
          <p:nvPr/>
        </p:nvSpPr>
        <p:spPr>
          <a:xfrm>
            <a:off x="7023100" y="2717800"/>
            <a:ext cx="29337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Scalene</a:t>
            </a:r>
          </a:p>
        </p:txBody>
      </p:sp>
      <p:sp>
        <p:nvSpPr>
          <p:cNvPr id="18" name="TextBox 17"/>
          <p:cNvSpPr txBox="1"/>
          <p:nvPr/>
        </p:nvSpPr>
        <p:spPr>
          <a:xfrm>
            <a:off x="10198100" y="2717800"/>
            <a:ext cx="13335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B42338"/>
                </a:solidFill>
                <a:latin typeface="DejaVu Sans"/>
              </a:rPr>
              <a:t>Failed</a:t>
            </a:r>
          </a:p>
        </p:txBody>
      </p:sp>
      <p:sp>
        <p:nvSpPr>
          <p:cNvPr id="19" name="Rectangle 18"/>
          <p:cNvSpPr/>
          <p:nvPr/>
        </p:nvSpPr>
        <p:spPr>
          <a:xfrm>
            <a:off x="558800" y="3314700"/>
            <a:ext cx="11074400" cy="787400"/>
          </a:xfrm>
          <a:prstGeom prst="rect">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8500" y="3505200"/>
            <a:ext cx="24511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18243B"/>
                </a:solidFill>
                <a:latin typeface="DejaVu Sans"/>
              </a:rPr>
              <a:t>02 200 is allowed</a:t>
            </a:r>
          </a:p>
        </p:txBody>
      </p:sp>
      <p:sp>
        <p:nvSpPr>
          <p:cNvPr id="21" name="TextBox 20"/>
          <p:cNvSpPr txBox="1"/>
          <p:nvPr/>
        </p:nvSpPr>
        <p:spPr>
          <a:xfrm>
            <a:off x="3390900" y="3505200"/>
            <a:ext cx="12319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1, 200, 200</a:t>
            </a:r>
          </a:p>
        </p:txBody>
      </p:sp>
      <p:sp>
        <p:nvSpPr>
          <p:cNvPr id="22" name="TextBox 21"/>
          <p:cNvSpPr txBox="1"/>
          <p:nvPr/>
        </p:nvSpPr>
        <p:spPr>
          <a:xfrm>
            <a:off x="4864100" y="3505200"/>
            <a:ext cx="19177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Isosceles</a:t>
            </a:r>
          </a:p>
        </p:txBody>
      </p:sp>
      <p:sp>
        <p:nvSpPr>
          <p:cNvPr id="23" name="TextBox 22"/>
          <p:cNvSpPr txBox="1"/>
          <p:nvPr/>
        </p:nvSpPr>
        <p:spPr>
          <a:xfrm>
            <a:off x="7023100" y="3505200"/>
            <a:ext cx="29337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Value is out of range</a:t>
            </a:r>
          </a:p>
        </p:txBody>
      </p:sp>
      <p:sp>
        <p:nvSpPr>
          <p:cNvPr id="24" name="TextBox 23"/>
          <p:cNvSpPr txBox="1"/>
          <p:nvPr/>
        </p:nvSpPr>
        <p:spPr>
          <a:xfrm>
            <a:off x="10198100" y="3505200"/>
            <a:ext cx="13335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B42338"/>
                </a:solidFill>
                <a:latin typeface="DejaVu Sans"/>
              </a:rPr>
              <a:t>Failed</a:t>
            </a:r>
          </a:p>
        </p:txBody>
      </p:sp>
      <p:sp>
        <p:nvSpPr>
          <p:cNvPr id="25" name="Rectangle 24"/>
          <p:cNvSpPr/>
          <p:nvPr/>
        </p:nvSpPr>
        <p:spPr>
          <a:xfrm>
            <a:off x="558800" y="4102100"/>
            <a:ext cx="11074400" cy="78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4292600"/>
            <a:ext cx="24511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18243B"/>
                </a:solidFill>
                <a:latin typeface="DejaVu Sans"/>
              </a:rPr>
              <a:t>03 Equilateral</a:t>
            </a:r>
          </a:p>
        </p:txBody>
      </p:sp>
      <p:sp>
        <p:nvSpPr>
          <p:cNvPr id="27" name="TextBox 26"/>
          <p:cNvSpPr txBox="1"/>
          <p:nvPr/>
        </p:nvSpPr>
        <p:spPr>
          <a:xfrm>
            <a:off x="3390900" y="4292600"/>
            <a:ext cx="12319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3, 3, 3</a:t>
            </a:r>
          </a:p>
        </p:txBody>
      </p:sp>
      <p:sp>
        <p:nvSpPr>
          <p:cNvPr id="28" name="TextBox 27"/>
          <p:cNvSpPr txBox="1"/>
          <p:nvPr/>
        </p:nvSpPr>
        <p:spPr>
          <a:xfrm>
            <a:off x="4864100" y="4292600"/>
            <a:ext cx="19177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Equilateral</a:t>
            </a:r>
          </a:p>
        </p:txBody>
      </p:sp>
      <p:sp>
        <p:nvSpPr>
          <p:cNvPr id="29" name="TextBox 28"/>
          <p:cNvSpPr txBox="1"/>
          <p:nvPr/>
        </p:nvSpPr>
        <p:spPr>
          <a:xfrm>
            <a:off x="7023100" y="4292600"/>
            <a:ext cx="29337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Equilateral</a:t>
            </a:r>
          </a:p>
        </p:txBody>
      </p:sp>
      <p:sp>
        <p:nvSpPr>
          <p:cNvPr id="30" name="TextBox 29"/>
          <p:cNvSpPr txBox="1"/>
          <p:nvPr/>
        </p:nvSpPr>
        <p:spPr>
          <a:xfrm>
            <a:off x="10198100" y="4292600"/>
            <a:ext cx="13335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087D69"/>
                </a:solidFill>
                <a:latin typeface="DejaVu Sans"/>
              </a:rPr>
              <a:t>Passed</a:t>
            </a:r>
          </a:p>
        </p:txBody>
      </p:sp>
      <p:sp>
        <p:nvSpPr>
          <p:cNvPr id="31" name="Rectangle 30"/>
          <p:cNvSpPr/>
          <p:nvPr/>
        </p:nvSpPr>
        <p:spPr>
          <a:xfrm>
            <a:off x="558800" y="4889500"/>
            <a:ext cx="11074400" cy="787400"/>
          </a:xfrm>
          <a:prstGeom prst="rect">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8500" y="5080000"/>
            <a:ext cx="24511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18243B"/>
                </a:solidFill>
                <a:latin typeface="DejaVu Sans"/>
              </a:rPr>
              <a:t>04 201 rejected</a:t>
            </a:r>
          </a:p>
        </p:txBody>
      </p:sp>
      <p:sp>
        <p:nvSpPr>
          <p:cNvPr id="33" name="TextBox 32"/>
          <p:cNvSpPr txBox="1"/>
          <p:nvPr/>
        </p:nvSpPr>
        <p:spPr>
          <a:xfrm>
            <a:off x="3390900" y="5080000"/>
            <a:ext cx="12319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201, 1, 1</a:t>
            </a:r>
          </a:p>
        </p:txBody>
      </p:sp>
      <p:sp>
        <p:nvSpPr>
          <p:cNvPr id="34" name="TextBox 33"/>
          <p:cNvSpPr txBox="1"/>
          <p:nvPr/>
        </p:nvSpPr>
        <p:spPr>
          <a:xfrm>
            <a:off x="4864100" y="5080000"/>
            <a:ext cx="1917700" cy="5207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Value is out of</a:t>
            </a:r>
          </a:p>
          <a:p>
            <a:pPr>
              <a:lnSpc>
                <a:spcPts val="1900"/>
              </a:lnSpc>
              <a:spcBef>
                <a:spcPts val="0"/>
              </a:spcBef>
              <a:spcAft>
                <a:spcPts val="0"/>
              </a:spcAft>
            </a:pPr>
            <a:r>
              <a:rPr sz="1550" b="0">
                <a:solidFill>
                  <a:srgbClr val="18243B"/>
                </a:solidFill>
                <a:latin typeface="DejaVu Sans"/>
              </a:rPr>
              <a:t>range</a:t>
            </a:r>
          </a:p>
        </p:txBody>
      </p:sp>
      <p:sp>
        <p:nvSpPr>
          <p:cNvPr id="35" name="TextBox 34"/>
          <p:cNvSpPr txBox="1"/>
          <p:nvPr/>
        </p:nvSpPr>
        <p:spPr>
          <a:xfrm>
            <a:off x="7023100" y="5080000"/>
            <a:ext cx="2933700" cy="279400"/>
          </a:xfrm>
          <a:prstGeom prst="rect">
            <a:avLst/>
          </a:prstGeom>
          <a:noFill/>
        </p:spPr>
        <p:txBody>
          <a:bodyPr wrap="none" lIns="0" rIns="0" tIns="0" bIns="0" anchor="t">
            <a:spAutoFit/>
          </a:bodyPr>
          <a:lstStyle/>
          <a:p>
            <a:pPr>
              <a:lnSpc>
                <a:spcPts val="1900"/>
              </a:lnSpc>
              <a:spcBef>
                <a:spcPts val="0"/>
              </a:spcBef>
              <a:spcAft>
                <a:spcPts val="0"/>
              </a:spcAft>
            </a:pPr>
            <a:r>
              <a:rPr sz="1550" b="0">
                <a:solidFill>
                  <a:srgbClr val="18243B"/>
                </a:solidFill>
                <a:latin typeface="DejaVu Sans"/>
              </a:rPr>
              <a:t>Value is out of range</a:t>
            </a:r>
          </a:p>
        </p:txBody>
      </p:sp>
      <p:sp>
        <p:nvSpPr>
          <p:cNvPr id="36" name="TextBox 35"/>
          <p:cNvSpPr txBox="1"/>
          <p:nvPr/>
        </p:nvSpPr>
        <p:spPr>
          <a:xfrm>
            <a:off x="10198100" y="5080000"/>
            <a:ext cx="1333500" cy="279400"/>
          </a:xfrm>
          <a:prstGeom prst="rect">
            <a:avLst/>
          </a:prstGeom>
          <a:noFill/>
        </p:spPr>
        <p:txBody>
          <a:bodyPr wrap="none" lIns="0" rIns="0" tIns="0" bIns="0" anchor="t">
            <a:spAutoFit/>
          </a:bodyPr>
          <a:lstStyle/>
          <a:p>
            <a:pPr>
              <a:lnSpc>
                <a:spcPts val="1900"/>
              </a:lnSpc>
              <a:spcBef>
                <a:spcPts val="0"/>
              </a:spcBef>
              <a:spcAft>
                <a:spcPts val="0"/>
              </a:spcAft>
            </a:pPr>
            <a:r>
              <a:rPr sz="1550" b="1">
                <a:solidFill>
                  <a:srgbClr val="087D69"/>
                </a:solidFill>
                <a:latin typeface="DejaVu Sans"/>
              </a:rPr>
              <a:t>Passed</a:t>
            </a:r>
          </a:p>
        </p:txBody>
      </p:sp>
      <p:sp>
        <p:nvSpPr>
          <p:cNvPr id="37" name="TextBox 36"/>
          <p:cNvSpPr txBox="1"/>
          <p:nvPr/>
        </p:nvSpPr>
        <p:spPr>
          <a:xfrm>
            <a:off x="558800" y="5905500"/>
            <a:ext cx="110744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6453CC"/>
                </a:solidFill>
                <a:latin typeface="DejaVu Sans"/>
              </a:rPr>
              <a:t>Whole numbers 1 through 200 are allowed, including 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MANUAL EXECUTION</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Run, compare, record in Qase</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The expected result belongs to the case. The actual result comes from Triangle Lab.</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06 / 10</a:t>
            </a:r>
          </a:p>
        </p:txBody>
      </p:sp>
      <p:sp>
        <p:nvSpPr>
          <p:cNvPr id="7" name="Rounded Rectangle 6"/>
          <p:cNvSpPr/>
          <p:nvPr/>
        </p:nvSpPr>
        <p:spPr>
          <a:xfrm>
            <a:off x="558800" y="2019300"/>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2057400"/>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1</a:t>
            </a:r>
          </a:p>
        </p:txBody>
      </p:sp>
      <p:sp>
        <p:nvSpPr>
          <p:cNvPr id="9" name="TextBox 8"/>
          <p:cNvSpPr txBox="1"/>
          <p:nvPr/>
        </p:nvSpPr>
        <p:spPr>
          <a:xfrm>
            <a:off x="1092200" y="1993900"/>
            <a:ext cx="61976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Select the four manual cases &gt; Run</a:t>
            </a:r>
          </a:p>
        </p:txBody>
      </p:sp>
      <p:sp>
        <p:nvSpPr>
          <p:cNvPr id="10" name="TextBox 9"/>
          <p:cNvSpPr txBox="1"/>
          <p:nvPr/>
        </p:nvSpPr>
        <p:spPr>
          <a:xfrm>
            <a:off x="1092200" y="2340864"/>
            <a:ext cx="61976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Name the run Triangle demo - Manual. Open its wizard.</a:t>
            </a:r>
          </a:p>
        </p:txBody>
      </p:sp>
      <p:sp>
        <p:nvSpPr>
          <p:cNvPr id="11" name="Rounded Rectangle 10"/>
          <p:cNvSpPr/>
          <p:nvPr/>
        </p:nvSpPr>
        <p:spPr>
          <a:xfrm>
            <a:off x="558800" y="2846832"/>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400" y="2884932"/>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2</a:t>
            </a:r>
          </a:p>
        </p:txBody>
      </p:sp>
      <p:sp>
        <p:nvSpPr>
          <p:cNvPr id="13" name="TextBox 12"/>
          <p:cNvSpPr txBox="1"/>
          <p:nvPr/>
        </p:nvSpPr>
        <p:spPr>
          <a:xfrm>
            <a:off x="1092200" y="2821432"/>
            <a:ext cx="61976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Enter sides in the lab &gt; Run test</a:t>
            </a:r>
          </a:p>
        </p:txBody>
      </p:sp>
      <p:sp>
        <p:nvSpPr>
          <p:cNvPr id="14" name="TextBox 13"/>
          <p:cNvSpPr txBox="1"/>
          <p:nvPr/>
        </p:nvSpPr>
        <p:spPr>
          <a:xfrm>
            <a:off x="1092200" y="3168396"/>
            <a:ext cx="6197600" cy="542036"/>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Read the faulty classifier's output, then compare it with the</a:t>
            </a:r>
          </a:p>
          <a:p>
            <a:pPr>
              <a:lnSpc>
                <a:spcPts val="1984"/>
              </a:lnSpc>
              <a:spcBef>
                <a:spcPts val="0"/>
              </a:spcBef>
              <a:spcAft>
                <a:spcPts val="0"/>
              </a:spcAft>
            </a:pPr>
            <a:r>
              <a:rPr sz="1600" b="0">
                <a:solidFill>
                  <a:srgbClr val="536279"/>
                </a:solidFill>
                <a:latin typeface="DejaVu Sans"/>
              </a:rPr>
              <a:t>case.</a:t>
            </a:r>
          </a:p>
        </p:txBody>
      </p:sp>
      <p:sp>
        <p:nvSpPr>
          <p:cNvPr id="15" name="Rounded Rectangle 14"/>
          <p:cNvSpPr/>
          <p:nvPr/>
        </p:nvSpPr>
        <p:spPr>
          <a:xfrm>
            <a:off x="558800" y="3926331"/>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3964431"/>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3</a:t>
            </a:r>
          </a:p>
        </p:txBody>
      </p:sp>
      <p:sp>
        <p:nvSpPr>
          <p:cNvPr id="17" name="TextBox 16"/>
          <p:cNvSpPr txBox="1"/>
          <p:nvPr/>
        </p:nvSpPr>
        <p:spPr>
          <a:xfrm>
            <a:off x="1092200" y="3900931"/>
            <a:ext cx="61976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Save Passed or Failed in Qase</a:t>
            </a:r>
          </a:p>
        </p:txBody>
      </p:sp>
      <p:sp>
        <p:nvSpPr>
          <p:cNvPr id="18" name="TextBox 17"/>
          <p:cNvSpPr txBox="1"/>
          <p:nvPr/>
        </p:nvSpPr>
        <p:spPr>
          <a:xfrm>
            <a:off x="1092200" y="4247895"/>
            <a:ext cx="61976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For a failure, add a comment and attach the lab screenshot.</a:t>
            </a:r>
          </a:p>
        </p:txBody>
      </p:sp>
      <p:sp>
        <p:nvSpPr>
          <p:cNvPr id="19" name="Rounded Rectangle 18"/>
          <p:cNvSpPr/>
          <p:nvPr/>
        </p:nvSpPr>
        <p:spPr>
          <a:xfrm>
            <a:off x="558800" y="5308600"/>
            <a:ext cx="6731000" cy="927100"/>
          </a:xfrm>
          <a:prstGeom prst="roundRect">
            <a:avLst>
              <a:gd name="adj" fmla="val 12000"/>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600" y="5461000"/>
            <a:ext cx="63246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6453CC"/>
                </a:solidFill>
                <a:latin typeface="DejaVu Sans"/>
              </a:rPr>
              <a:t>Example Comment</a:t>
            </a:r>
          </a:p>
        </p:txBody>
      </p:sp>
      <p:sp>
        <p:nvSpPr>
          <p:cNvPr id="21" name="TextBox 20"/>
          <p:cNvSpPr txBox="1"/>
          <p:nvPr/>
        </p:nvSpPr>
        <p:spPr>
          <a:xfrm>
            <a:off x="736600" y="5740400"/>
            <a:ext cx="6324600" cy="317500"/>
          </a:xfrm>
          <a:prstGeom prst="rect">
            <a:avLst/>
          </a:prstGeom>
          <a:noFill/>
        </p:spPr>
        <p:txBody>
          <a:bodyPr wrap="none" lIns="0" rIns="0" tIns="0" bIns="0" anchor="t">
            <a:spAutoFit/>
          </a:bodyPr>
          <a:lstStyle/>
          <a:p>
            <a:pPr>
              <a:lnSpc>
                <a:spcPts val="2200"/>
              </a:lnSpc>
              <a:spcBef>
                <a:spcPts val="0"/>
              </a:spcBef>
              <a:spcAft>
                <a:spcPts val="0"/>
              </a:spcAft>
            </a:pPr>
            <a:r>
              <a:rPr sz="1600" b="0">
                <a:solidFill>
                  <a:srgbClr val="18243B"/>
                </a:solidFill>
                <a:latin typeface="DejaVu Sans"/>
              </a:rPr>
              <a:t>a=2, b=1, c=2. Expected: Isosceles. Actual: Scalene.</a:t>
            </a:r>
          </a:p>
        </p:txBody>
      </p:sp>
      <p:pic>
        <p:nvPicPr>
          <p:cNvPr id="22" name="Picture 21" descr="qase-add-result.png"/>
          <p:cNvPicPr>
            <a:picLocks noChangeAspect="1"/>
          </p:cNvPicPr>
          <p:nvPr/>
        </p:nvPicPr>
        <p:blipFill>
          <a:blip r:embed="rId3"/>
          <a:stretch>
            <a:fillRect/>
          </a:stretch>
        </p:blipFill>
        <p:spPr>
          <a:xfrm>
            <a:off x="7950200" y="1981200"/>
            <a:ext cx="3683000" cy="3228781"/>
          </a:xfrm>
          <a:prstGeom prst="rect">
            <a:avLst/>
          </a:prstGeom>
        </p:spPr>
      </p:pic>
      <p:sp>
        <p:nvSpPr>
          <p:cNvPr id="23" name="TextBox 22"/>
          <p:cNvSpPr txBox="1"/>
          <p:nvPr/>
        </p:nvSpPr>
        <p:spPr>
          <a:xfrm>
            <a:off x="7950200" y="5324281"/>
            <a:ext cx="3683000" cy="195580"/>
          </a:xfrm>
          <a:prstGeom prst="rect">
            <a:avLst/>
          </a:prstGeom>
          <a:noFill/>
        </p:spPr>
        <p:txBody>
          <a:bodyPr wrap="none" lIns="0" rIns="0" tIns="0" bIns="0" anchor="t">
            <a:spAutoFit/>
          </a:bodyPr>
          <a:lstStyle/>
          <a:p>
            <a:pPr>
              <a:lnSpc>
                <a:spcPts val="1240"/>
              </a:lnSpc>
              <a:spcBef>
                <a:spcPts val="0"/>
              </a:spcBef>
              <a:spcAft>
                <a:spcPts val="0"/>
              </a:spcAft>
            </a:pPr>
            <a:r>
              <a:rPr sz="1000" b="0">
                <a:solidFill>
                  <a:srgbClr val="536279"/>
                </a:solidFill>
                <a:latin typeface="DejaVu Sans"/>
              </a:rPr>
              <a:t>Add result dialog. Official Qase help example.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AUTOMATED EXECUTION</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Start the existing GitHub workflow</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In your repository or fork, run both suites once and inspect Qase.</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07 / 10</a:t>
            </a:r>
          </a:p>
        </p:txBody>
      </p:sp>
      <p:sp>
        <p:nvSpPr>
          <p:cNvPr id="7" name="Rounded Rectangle 6"/>
          <p:cNvSpPr/>
          <p:nvPr/>
        </p:nvSpPr>
        <p:spPr>
          <a:xfrm>
            <a:off x="558800" y="1981200"/>
            <a:ext cx="3403600" cy="1079500"/>
          </a:xfrm>
          <a:prstGeom prst="roundRect">
            <a:avLst>
              <a:gd name="adj" fmla="val 12000"/>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300" y="2197100"/>
            <a:ext cx="3048000" cy="353060"/>
          </a:xfrm>
          <a:prstGeom prst="rect">
            <a:avLst/>
          </a:prstGeom>
          <a:noFill/>
        </p:spPr>
        <p:txBody>
          <a:bodyPr wrap="none" lIns="0" rIns="0" tIns="0" bIns="0" anchor="t">
            <a:spAutoFit/>
          </a:bodyPr>
          <a:lstStyle/>
          <a:p>
            <a:pPr>
              <a:lnSpc>
                <a:spcPts val="2480"/>
              </a:lnSpc>
              <a:spcBef>
                <a:spcPts val="0"/>
              </a:spcBef>
              <a:spcAft>
                <a:spcPts val="0"/>
              </a:spcAft>
            </a:pPr>
            <a:r>
              <a:rPr sz="2000" b="1">
                <a:solidFill>
                  <a:srgbClr val="18243B"/>
                </a:solidFill>
                <a:latin typeface="DejaVu Sans"/>
              </a:rPr>
              <a:t>GitHub Actions</a:t>
            </a:r>
          </a:p>
        </p:txBody>
      </p:sp>
      <p:sp>
        <p:nvSpPr>
          <p:cNvPr id="9" name="TextBox 8"/>
          <p:cNvSpPr txBox="1"/>
          <p:nvPr/>
        </p:nvSpPr>
        <p:spPr>
          <a:xfrm>
            <a:off x="749300" y="2628900"/>
            <a:ext cx="3048000" cy="242824"/>
          </a:xfrm>
          <a:prstGeom prst="rect">
            <a:avLst/>
          </a:prstGeom>
          <a:noFill/>
        </p:spPr>
        <p:txBody>
          <a:bodyPr wrap="none" lIns="0" rIns="0" tIns="0" bIns="0" anchor="t">
            <a:spAutoFit/>
          </a:bodyPr>
          <a:lstStyle/>
          <a:p>
            <a:pPr>
              <a:lnSpc>
                <a:spcPts val="1612"/>
              </a:lnSpc>
              <a:spcBef>
                <a:spcPts val="0"/>
              </a:spcBef>
              <a:spcAft>
                <a:spcPts val="0"/>
              </a:spcAft>
            </a:pPr>
            <a:r>
              <a:rPr sz="1300" b="0">
                <a:solidFill>
                  <a:srgbClr val="536279"/>
                </a:solidFill>
                <a:latin typeface="DejaVu Sans"/>
              </a:rPr>
              <a:t>Runs the checked-out tests</a:t>
            </a:r>
          </a:p>
        </p:txBody>
      </p:sp>
      <p:sp>
        <p:nvSpPr>
          <p:cNvPr id="10" name="TextBox 9"/>
          <p:cNvSpPr txBox="1"/>
          <p:nvPr/>
        </p:nvSpPr>
        <p:spPr>
          <a:xfrm>
            <a:off x="4089400" y="2286000"/>
            <a:ext cx="279400" cy="447548"/>
          </a:xfrm>
          <a:prstGeom prst="rect">
            <a:avLst/>
          </a:prstGeom>
          <a:noFill/>
        </p:spPr>
        <p:txBody>
          <a:bodyPr wrap="none" lIns="0" rIns="0" tIns="0" bIns="0" anchor="t">
            <a:spAutoFit/>
          </a:bodyPr>
          <a:lstStyle/>
          <a:p>
            <a:pPr>
              <a:lnSpc>
                <a:spcPts val="3224"/>
              </a:lnSpc>
              <a:spcBef>
                <a:spcPts val="0"/>
              </a:spcBef>
              <a:spcAft>
                <a:spcPts val="0"/>
              </a:spcAft>
            </a:pPr>
            <a:r>
              <a:rPr sz="2600" b="1">
                <a:solidFill>
                  <a:srgbClr val="6453CC"/>
                </a:solidFill>
                <a:latin typeface="DejaVu Sans"/>
              </a:rPr>
              <a:t>&gt;</a:t>
            </a:r>
          </a:p>
        </p:txBody>
      </p:sp>
      <p:sp>
        <p:nvSpPr>
          <p:cNvPr id="11" name="Rounded Rectangle 10"/>
          <p:cNvSpPr/>
          <p:nvPr/>
        </p:nvSpPr>
        <p:spPr>
          <a:xfrm>
            <a:off x="4394200" y="1981200"/>
            <a:ext cx="3403600" cy="1079500"/>
          </a:xfrm>
          <a:prstGeom prst="roundRect">
            <a:avLst>
              <a:gd name="adj" fmla="val 12000"/>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700" y="2197100"/>
            <a:ext cx="3048000" cy="353060"/>
          </a:xfrm>
          <a:prstGeom prst="rect">
            <a:avLst/>
          </a:prstGeom>
          <a:noFill/>
        </p:spPr>
        <p:txBody>
          <a:bodyPr wrap="none" lIns="0" rIns="0" tIns="0" bIns="0" anchor="t">
            <a:spAutoFit/>
          </a:bodyPr>
          <a:lstStyle/>
          <a:p>
            <a:pPr>
              <a:lnSpc>
                <a:spcPts val="2480"/>
              </a:lnSpc>
              <a:spcBef>
                <a:spcPts val="0"/>
              </a:spcBef>
              <a:spcAft>
                <a:spcPts val="0"/>
              </a:spcAft>
            </a:pPr>
            <a:r>
              <a:rPr sz="2000" b="1">
                <a:solidFill>
                  <a:srgbClr val="18243B"/>
                </a:solidFill>
                <a:latin typeface="DejaVu Sans"/>
              </a:rPr>
              <a:t>Vitest + Playwright</a:t>
            </a:r>
          </a:p>
        </p:txBody>
      </p:sp>
      <p:sp>
        <p:nvSpPr>
          <p:cNvPr id="13" name="TextBox 12"/>
          <p:cNvSpPr txBox="1"/>
          <p:nvPr/>
        </p:nvSpPr>
        <p:spPr>
          <a:xfrm>
            <a:off x="4584700" y="2628900"/>
            <a:ext cx="3048000" cy="242824"/>
          </a:xfrm>
          <a:prstGeom prst="rect">
            <a:avLst/>
          </a:prstGeom>
          <a:noFill/>
        </p:spPr>
        <p:txBody>
          <a:bodyPr wrap="none" lIns="0" rIns="0" tIns="0" bIns="0" anchor="t">
            <a:spAutoFit/>
          </a:bodyPr>
          <a:lstStyle/>
          <a:p>
            <a:pPr>
              <a:lnSpc>
                <a:spcPts val="1612"/>
              </a:lnSpc>
              <a:spcBef>
                <a:spcPts val="0"/>
              </a:spcBef>
              <a:spcAft>
                <a:spcPts val="0"/>
              </a:spcAft>
            </a:pPr>
            <a:r>
              <a:rPr sz="1300" b="0">
                <a:solidFill>
                  <a:srgbClr val="536279"/>
                </a:solidFill>
                <a:latin typeface="DejaVu Sans"/>
              </a:rPr>
              <a:t>Four checks in each suite</a:t>
            </a:r>
          </a:p>
        </p:txBody>
      </p:sp>
      <p:sp>
        <p:nvSpPr>
          <p:cNvPr id="14" name="TextBox 13"/>
          <p:cNvSpPr txBox="1"/>
          <p:nvPr/>
        </p:nvSpPr>
        <p:spPr>
          <a:xfrm>
            <a:off x="7924800" y="2286000"/>
            <a:ext cx="279400" cy="447548"/>
          </a:xfrm>
          <a:prstGeom prst="rect">
            <a:avLst/>
          </a:prstGeom>
          <a:noFill/>
        </p:spPr>
        <p:txBody>
          <a:bodyPr wrap="none" lIns="0" rIns="0" tIns="0" bIns="0" anchor="t">
            <a:spAutoFit/>
          </a:bodyPr>
          <a:lstStyle/>
          <a:p>
            <a:pPr>
              <a:lnSpc>
                <a:spcPts val="3224"/>
              </a:lnSpc>
              <a:spcBef>
                <a:spcPts val="0"/>
              </a:spcBef>
              <a:spcAft>
                <a:spcPts val="0"/>
              </a:spcAft>
            </a:pPr>
            <a:r>
              <a:rPr sz="2600" b="1">
                <a:solidFill>
                  <a:srgbClr val="6453CC"/>
                </a:solidFill>
                <a:latin typeface="DejaVu Sans"/>
              </a:rPr>
              <a:t>&gt;</a:t>
            </a:r>
          </a:p>
        </p:txBody>
      </p:sp>
      <p:sp>
        <p:nvSpPr>
          <p:cNvPr id="15" name="Rounded Rectangle 14"/>
          <p:cNvSpPr/>
          <p:nvPr/>
        </p:nvSpPr>
        <p:spPr>
          <a:xfrm>
            <a:off x="8229600" y="1981200"/>
            <a:ext cx="3403600" cy="1079500"/>
          </a:xfrm>
          <a:prstGeom prst="roundRect">
            <a:avLst>
              <a:gd name="adj" fmla="val 12000"/>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0100" y="2197100"/>
            <a:ext cx="3048000" cy="353060"/>
          </a:xfrm>
          <a:prstGeom prst="rect">
            <a:avLst/>
          </a:prstGeom>
          <a:noFill/>
        </p:spPr>
        <p:txBody>
          <a:bodyPr wrap="none" lIns="0" rIns="0" tIns="0" bIns="0" anchor="t">
            <a:spAutoFit/>
          </a:bodyPr>
          <a:lstStyle/>
          <a:p>
            <a:pPr>
              <a:lnSpc>
                <a:spcPts val="2480"/>
              </a:lnSpc>
              <a:spcBef>
                <a:spcPts val="0"/>
              </a:spcBef>
              <a:spcAft>
                <a:spcPts val="0"/>
              </a:spcAft>
            </a:pPr>
            <a:r>
              <a:rPr sz="2000" b="1">
                <a:solidFill>
                  <a:srgbClr val="18243B"/>
                </a:solidFill>
                <a:latin typeface="DejaVu Sans"/>
              </a:rPr>
              <a:t>Qase project TR</a:t>
            </a:r>
          </a:p>
        </p:txBody>
      </p:sp>
      <p:sp>
        <p:nvSpPr>
          <p:cNvPr id="17" name="TextBox 16"/>
          <p:cNvSpPr txBox="1"/>
          <p:nvPr/>
        </p:nvSpPr>
        <p:spPr>
          <a:xfrm>
            <a:off x="8420100" y="2628900"/>
            <a:ext cx="3048000" cy="242824"/>
          </a:xfrm>
          <a:prstGeom prst="rect">
            <a:avLst/>
          </a:prstGeom>
          <a:noFill/>
        </p:spPr>
        <p:txBody>
          <a:bodyPr wrap="none" lIns="0" rIns="0" tIns="0" bIns="0" anchor="t">
            <a:spAutoFit/>
          </a:bodyPr>
          <a:lstStyle/>
          <a:p>
            <a:pPr>
              <a:lnSpc>
                <a:spcPts val="1612"/>
              </a:lnSpc>
              <a:spcBef>
                <a:spcPts val="0"/>
              </a:spcBef>
              <a:spcAft>
                <a:spcPts val="0"/>
              </a:spcAft>
            </a:pPr>
            <a:r>
              <a:rPr sz="1300" b="0">
                <a:solidFill>
                  <a:srgbClr val="536279"/>
                </a:solidFill>
                <a:latin typeface="DejaVu Sans"/>
              </a:rPr>
              <a:t>Two reports with results</a:t>
            </a:r>
          </a:p>
        </p:txBody>
      </p:sp>
      <p:sp>
        <p:nvSpPr>
          <p:cNvPr id="18" name="Rounded Rectangle 17"/>
          <p:cNvSpPr/>
          <p:nvPr/>
        </p:nvSpPr>
        <p:spPr>
          <a:xfrm>
            <a:off x="558800" y="3530600"/>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400" y="3568700"/>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1</a:t>
            </a:r>
          </a:p>
        </p:txBody>
      </p:sp>
      <p:sp>
        <p:nvSpPr>
          <p:cNvPr id="20" name="TextBox 19"/>
          <p:cNvSpPr txBox="1"/>
          <p:nvPr/>
        </p:nvSpPr>
        <p:spPr>
          <a:xfrm>
            <a:off x="1092200" y="3505200"/>
            <a:ext cx="10541000" cy="337312"/>
          </a:xfrm>
          <a:prstGeom prst="rect">
            <a:avLst/>
          </a:prstGeom>
          <a:noFill/>
        </p:spPr>
        <p:txBody>
          <a:bodyPr wrap="none" lIns="0" rIns="0" tIns="0" bIns="0" anchor="t">
            <a:spAutoFit/>
          </a:bodyPr>
          <a:lstStyle/>
          <a:p>
            <a:pPr>
              <a:lnSpc>
                <a:spcPts val="2356"/>
              </a:lnSpc>
              <a:spcBef>
                <a:spcPts val="0"/>
              </a:spcBef>
              <a:spcAft>
                <a:spcPts val="0"/>
              </a:spcAft>
            </a:pPr>
            <a:r>
              <a:rPr sz="1900" b="1">
                <a:solidFill>
                  <a:srgbClr val="18243B"/>
                </a:solidFill>
                <a:latin typeface="DejaVu Sans"/>
              </a:rPr>
              <a:t>Actions &gt; Performative defect detection</a:t>
            </a:r>
          </a:p>
        </p:txBody>
      </p:sp>
      <p:sp>
        <p:nvSpPr>
          <p:cNvPr id="21" name="TextBox 20"/>
          <p:cNvSpPr txBox="1"/>
          <p:nvPr/>
        </p:nvSpPr>
        <p:spPr>
          <a:xfrm>
            <a:off x="1092200" y="3867912"/>
            <a:ext cx="10541000" cy="305816"/>
          </a:xfrm>
          <a:prstGeom prst="rect">
            <a:avLst/>
          </a:prstGeom>
          <a:noFill/>
        </p:spPr>
        <p:txBody>
          <a:bodyPr wrap="none" lIns="0" rIns="0" tIns="0" bIns="0" anchor="t">
            <a:spAutoFit/>
          </a:bodyPr>
          <a:lstStyle/>
          <a:p>
            <a:pPr>
              <a:lnSpc>
                <a:spcPts val="2108"/>
              </a:lnSpc>
              <a:spcBef>
                <a:spcPts val="0"/>
              </a:spcBef>
              <a:spcAft>
                <a:spcPts val="0"/>
              </a:spcAft>
            </a:pPr>
            <a:r>
              <a:rPr sz="1700" b="0">
                <a:solidFill>
                  <a:srgbClr val="536279"/>
                </a:solidFill>
                <a:latin typeface="DejaVu Sans"/>
              </a:rPr>
              <a:t>Click Run workflow, choose main, then Run workflow again.</a:t>
            </a:r>
          </a:p>
        </p:txBody>
      </p:sp>
      <p:sp>
        <p:nvSpPr>
          <p:cNvPr id="22" name="Rounded Rectangle 21"/>
          <p:cNvSpPr/>
          <p:nvPr/>
        </p:nvSpPr>
        <p:spPr>
          <a:xfrm>
            <a:off x="558800" y="4389628"/>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400" y="4427728"/>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2</a:t>
            </a:r>
          </a:p>
        </p:txBody>
      </p:sp>
      <p:sp>
        <p:nvSpPr>
          <p:cNvPr id="24" name="TextBox 23"/>
          <p:cNvSpPr txBox="1"/>
          <p:nvPr/>
        </p:nvSpPr>
        <p:spPr>
          <a:xfrm>
            <a:off x="1092200" y="4364228"/>
            <a:ext cx="10541000" cy="337312"/>
          </a:xfrm>
          <a:prstGeom prst="rect">
            <a:avLst/>
          </a:prstGeom>
          <a:noFill/>
        </p:spPr>
        <p:txBody>
          <a:bodyPr wrap="none" lIns="0" rIns="0" tIns="0" bIns="0" anchor="t">
            <a:spAutoFit/>
          </a:bodyPr>
          <a:lstStyle/>
          <a:p>
            <a:pPr>
              <a:lnSpc>
                <a:spcPts val="2356"/>
              </a:lnSpc>
              <a:spcBef>
                <a:spcPts val="0"/>
              </a:spcBef>
              <a:spcAft>
                <a:spcPts val="0"/>
              </a:spcAft>
            </a:pPr>
            <a:r>
              <a:rPr sz="1900" b="1">
                <a:solidFill>
                  <a:srgbClr val="18243B"/>
                </a:solidFill>
                <a:latin typeface="DejaVu Sans"/>
              </a:rPr>
              <a:t>Check logs, then open Qase Test Runs</a:t>
            </a:r>
          </a:p>
        </p:txBody>
      </p:sp>
      <p:sp>
        <p:nvSpPr>
          <p:cNvPr id="25" name="TextBox 24"/>
          <p:cNvSpPr txBox="1"/>
          <p:nvPr/>
        </p:nvSpPr>
        <p:spPr>
          <a:xfrm>
            <a:off x="1092200" y="4726940"/>
            <a:ext cx="10541000" cy="305816"/>
          </a:xfrm>
          <a:prstGeom prst="rect">
            <a:avLst/>
          </a:prstGeom>
          <a:noFill/>
        </p:spPr>
        <p:txBody>
          <a:bodyPr wrap="none" lIns="0" rIns="0" tIns="0" bIns="0" anchor="t">
            <a:spAutoFit/>
          </a:bodyPr>
          <a:lstStyle/>
          <a:p>
            <a:pPr>
              <a:lnSpc>
                <a:spcPts val="2108"/>
              </a:lnSpc>
              <a:spcBef>
                <a:spcPts val="0"/>
              </a:spcBef>
              <a:spcAft>
                <a:spcPts val="0"/>
              </a:spcAft>
            </a:pPr>
            <a:r>
              <a:rPr sz="1700" b="0">
                <a:solidFill>
                  <a:srgbClr val="536279"/>
                </a:solidFill>
                <a:latin typeface="DejaVu Sans"/>
              </a:rPr>
              <a:t>Confirm reporting is enabled and that both suites uploaded four results.</a:t>
            </a:r>
          </a:p>
        </p:txBody>
      </p:sp>
      <p:sp>
        <p:nvSpPr>
          <p:cNvPr id="26" name="TextBox 25"/>
          <p:cNvSpPr txBox="1"/>
          <p:nvPr/>
        </p:nvSpPr>
        <p:spPr>
          <a:xfrm>
            <a:off x="558800" y="5803900"/>
            <a:ext cx="2857500" cy="305816"/>
          </a:xfrm>
          <a:prstGeom prst="rect">
            <a:avLst/>
          </a:prstGeom>
          <a:noFill/>
        </p:spPr>
        <p:txBody>
          <a:bodyPr wrap="none" lIns="0" rIns="0" tIns="0" bIns="0" anchor="t">
            <a:spAutoFit/>
          </a:bodyPr>
          <a:lstStyle/>
          <a:p>
            <a:pPr>
              <a:lnSpc>
                <a:spcPts val="2108"/>
              </a:lnSpc>
              <a:spcBef>
                <a:spcPts val="0"/>
              </a:spcBef>
              <a:spcAft>
                <a:spcPts val="0"/>
              </a:spcAft>
            </a:pPr>
            <a:r>
              <a:rPr sz="1700" b="1">
                <a:solidFill>
                  <a:srgbClr val="6453CC"/>
                </a:solidFill>
                <a:latin typeface="DejaVu Sans"/>
                <a:hlinkClick r:id="rId3"/>
              </a:rPr>
              <a:t>Open workflow</a:t>
            </a:r>
          </a:p>
        </p:txBody>
      </p:sp>
      <p:sp>
        <p:nvSpPr>
          <p:cNvPr id="27" name="TextBox 26"/>
          <p:cNvSpPr txBox="1"/>
          <p:nvPr/>
        </p:nvSpPr>
        <p:spPr>
          <a:xfrm>
            <a:off x="3810000" y="5803900"/>
            <a:ext cx="7823200" cy="290068"/>
          </a:xfrm>
          <a:prstGeom prst="rect">
            <a:avLst/>
          </a:prstGeom>
          <a:noFill/>
        </p:spPr>
        <p:txBody>
          <a:bodyPr wrap="none" lIns="0" rIns="0" tIns="0" bIns="0" anchor="t">
            <a:spAutoFit/>
          </a:bodyPr>
          <a:lstStyle/>
          <a:p>
            <a:pPr>
              <a:lnSpc>
                <a:spcPts val="1984"/>
              </a:lnSpc>
              <a:spcBef>
                <a:spcPts val="0"/>
              </a:spcBef>
              <a:spcAft>
                <a:spcPts val="0"/>
              </a:spcAft>
            </a:pPr>
            <a:r>
              <a:rPr sz="1600" b="1">
                <a:solidFill>
                  <a:srgbClr val="B42338"/>
                </a:solidFill>
                <a:latin typeface="DejaVu Sans"/>
              </a:rPr>
              <a:t>Two assertion failures per suite should make the job 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AUTOMATED RESULTS</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Inspect the uploaded Qase results</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Open the newest Direct Effect and Browser UI runs. Each should have four checks.</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08 / 10</a:t>
            </a:r>
          </a:p>
        </p:txBody>
      </p:sp>
      <p:sp>
        <p:nvSpPr>
          <p:cNvPr id="7" name="TextBox 6"/>
          <p:cNvSpPr txBox="1"/>
          <p:nvPr/>
        </p:nvSpPr>
        <p:spPr>
          <a:xfrm>
            <a:off x="558800" y="1943100"/>
            <a:ext cx="82550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hlinkClick r:id="rId3"/>
              </a:rPr>
              <a:t>Example: Browser UI, run 16</a:t>
            </a:r>
          </a:p>
        </p:txBody>
      </p:sp>
      <p:pic>
        <p:nvPicPr>
          <p:cNvPr id="8" name="Picture 7" descr="qase-run-table.png"/>
          <p:cNvPicPr>
            <a:picLocks noChangeAspect="1"/>
          </p:cNvPicPr>
          <p:nvPr/>
        </p:nvPicPr>
        <p:blipFill>
          <a:blip r:embed="rId4"/>
          <a:stretch>
            <a:fillRect/>
          </a:stretch>
        </p:blipFill>
        <p:spPr>
          <a:xfrm>
            <a:off x="558800" y="2438400"/>
            <a:ext cx="11074400" cy="3145076"/>
          </a:xfrm>
          <a:prstGeom prst="rect">
            <a:avLst/>
          </a:prstGeom>
        </p:spPr>
      </p:pic>
      <p:sp>
        <p:nvSpPr>
          <p:cNvPr id="9" name="TextBox 8"/>
          <p:cNvSpPr txBox="1"/>
          <p:nvPr/>
        </p:nvSpPr>
        <p:spPr>
          <a:xfrm>
            <a:off x="558800" y="5930900"/>
            <a:ext cx="8636000" cy="384556"/>
          </a:xfrm>
          <a:prstGeom prst="rect">
            <a:avLst/>
          </a:prstGeom>
          <a:noFill/>
        </p:spPr>
        <p:txBody>
          <a:bodyPr wrap="none" lIns="0" rIns="0" tIns="0" bIns="0" anchor="t">
            <a:spAutoFit/>
          </a:bodyPr>
          <a:lstStyle/>
          <a:p>
            <a:pPr>
              <a:lnSpc>
                <a:spcPts val="2728"/>
              </a:lnSpc>
              <a:spcBef>
                <a:spcPts val="0"/>
              </a:spcBef>
              <a:spcAft>
                <a:spcPts val="0"/>
              </a:spcAft>
            </a:pPr>
            <a:r>
              <a:rPr sz="2200" b="1">
                <a:solidFill>
                  <a:srgbClr val="6453CC"/>
                </a:solidFill>
                <a:latin typeface="DejaVu Sans"/>
              </a:rPr>
              <a:t>2 passed + 2 failed in each suite</a:t>
            </a:r>
          </a:p>
        </p:txBody>
      </p:sp>
      <p:sp>
        <p:nvSpPr>
          <p:cNvPr id="10" name="TextBox 9"/>
          <p:cNvSpPr txBox="1"/>
          <p:nvPr/>
        </p:nvSpPr>
        <p:spPr>
          <a:xfrm>
            <a:off x="558800" y="6286500"/>
            <a:ext cx="11074400" cy="227076"/>
          </a:xfrm>
          <a:prstGeom prst="rect">
            <a:avLst/>
          </a:prstGeom>
          <a:noFill/>
        </p:spPr>
        <p:txBody>
          <a:bodyPr wrap="none" lIns="0" rIns="0" tIns="0" bIns="0" anchor="t">
            <a:spAutoFit/>
          </a:bodyPr>
          <a:lstStyle/>
          <a:p>
            <a:pPr>
              <a:lnSpc>
                <a:spcPts val="1488"/>
              </a:lnSpc>
              <a:spcBef>
                <a:spcPts val="0"/>
              </a:spcBef>
              <a:spcAft>
                <a:spcPts val="0"/>
              </a:spcAft>
            </a:pPr>
            <a:r>
              <a:rPr sz="1200" b="0">
                <a:solidFill>
                  <a:srgbClr val="536279"/>
                </a:solidFill>
                <a:latin typeface="DejaVu Sans"/>
              </a:rPr>
              <a:t>Open a Failed case for assertion details.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OPTIONAL / LOCAL SETUP</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Follow along on your own machine</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Use Git, Node.js 22.18 and pnpm 11.9.0 to match the repository workflow.</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09 / 10</a:t>
            </a:r>
          </a:p>
        </p:txBody>
      </p:sp>
      <p:sp>
        <p:nvSpPr>
          <p:cNvPr id="7" name="TextBox 6"/>
          <p:cNvSpPr txBox="1"/>
          <p:nvPr/>
        </p:nvSpPr>
        <p:spPr>
          <a:xfrm>
            <a:off x="558800" y="1993900"/>
            <a:ext cx="5334000" cy="321564"/>
          </a:xfrm>
          <a:prstGeom prst="rect">
            <a:avLst/>
          </a:prstGeom>
          <a:noFill/>
        </p:spPr>
        <p:txBody>
          <a:bodyPr wrap="none" lIns="0" rIns="0" tIns="0" bIns="0" anchor="t">
            <a:spAutoFit/>
          </a:bodyPr>
          <a:lstStyle/>
          <a:p>
            <a:pPr>
              <a:lnSpc>
                <a:spcPts val="2232"/>
              </a:lnSpc>
              <a:spcBef>
                <a:spcPts val="0"/>
              </a:spcBef>
              <a:spcAft>
                <a:spcPts val="0"/>
              </a:spcAft>
            </a:pPr>
            <a:r>
              <a:rPr sz="1800" b="1">
                <a:solidFill>
                  <a:srgbClr val="18243B"/>
                </a:solidFill>
                <a:latin typeface="DejaVu Sans"/>
              </a:rPr>
              <a:t>1 Install from the repository</a:t>
            </a:r>
          </a:p>
        </p:txBody>
      </p:sp>
      <p:sp>
        <p:nvSpPr>
          <p:cNvPr id="8" name="Rounded Rectangle 7"/>
          <p:cNvSpPr/>
          <p:nvPr/>
        </p:nvSpPr>
        <p:spPr>
          <a:xfrm>
            <a:off x="558800" y="2451100"/>
            <a:ext cx="5384800" cy="1917700"/>
          </a:xfrm>
          <a:prstGeom prst="roundRect">
            <a:avLst>
              <a:gd name="adj" fmla="val 12000"/>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6600" y="2654300"/>
            <a:ext cx="5041900" cy="1257300"/>
          </a:xfrm>
          <a:prstGeom prst="rect">
            <a:avLst/>
          </a:prstGeom>
          <a:noFill/>
        </p:spPr>
        <p:txBody>
          <a:bodyPr wrap="none" lIns="0" rIns="0" tIns="0" bIns="0" anchor="t">
            <a:spAutoFit/>
          </a:bodyPr>
          <a:lstStyle/>
          <a:p>
            <a:pPr>
              <a:lnSpc>
                <a:spcPts val="2400"/>
              </a:lnSpc>
              <a:spcBef>
                <a:spcPts val="0"/>
              </a:spcBef>
              <a:spcAft>
                <a:spcPts val="0"/>
              </a:spcAft>
            </a:pPr>
            <a:r>
              <a:rPr sz="1250" b="0">
                <a:solidFill>
                  <a:srgbClr val="18243B"/>
                </a:solidFill>
                <a:latin typeface="DejaVu Sans Mono"/>
              </a:rPr>
              <a:t>git clone \</a:t>
            </a:r>
          </a:p>
          <a:p>
            <a:pPr>
              <a:lnSpc>
                <a:spcPts val="2400"/>
              </a:lnSpc>
              <a:spcBef>
                <a:spcPts val="0"/>
              </a:spcBef>
              <a:spcAft>
                <a:spcPts val="0"/>
              </a:spcAft>
            </a:pPr>
            <a:r>
              <a:rPr sz="1250" b="0">
                <a:solidFill>
                  <a:srgbClr val="18243B"/>
                </a:solidFill>
                <a:latin typeface="DejaVu Sans Mono"/>
              </a:rPr>
              <a:t>https://github.com/tiara-stack/triangle.git</a:t>
            </a:r>
          </a:p>
          <a:p>
            <a:pPr>
              <a:lnSpc>
                <a:spcPts val="2400"/>
              </a:lnSpc>
              <a:spcBef>
                <a:spcPts val="0"/>
              </a:spcBef>
              <a:spcAft>
                <a:spcPts val="0"/>
              </a:spcAft>
            </a:pPr>
            <a:r>
              <a:rPr sz="1250" b="0">
                <a:solidFill>
                  <a:srgbClr val="18243B"/>
                </a:solidFill>
                <a:latin typeface="DejaVu Sans Mono"/>
              </a:rPr>
              <a:t>cd triangle</a:t>
            </a:r>
          </a:p>
          <a:p>
            <a:pPr>
              <a:lnSpc>
                <a:spcPts val="2400"/>
              </a:lnSpc>
              <a:spcBef>
                <a:spcPts val="0"/>
              </a:spcBef>
              <a:spcAft>
                <a:spcPts val="0"/>
              </a:spcAft>
            </a:pPr>
            <a:r>
              <a:rPr sz="1250" b="0">
                <a:solidFill>
                  <a:srgbClr val="18243B"/>
                </a:solidFill>
                <a:latin typeface="DejaVu Sans Mono"/>
              </a:rPr>
              <a:t>pnpm install --frozen-lockfile</a:t>
            </a:r>
          </a:p>
        </p:txBody>
      </p:sp>
      <p:sp>
        <p:nvSpPr>
          <p:cNvPr id="10" name="TextBox 9"/>
          <p:cNvSpPr txBox="1"/>
          <p:nvPr/>
        </p:nvSpPr>
        <p:spPr>
          <a:xfrm>
            <a:off x="558800" y="4635500"/>
            <a:ext cx="5372100" cy="290068"/>
          </a:xfrm>
          <a:prstGeom prst="rect">
            <a:avLst/>
          </a:prstGeom>
          <a:noFill/>
        </p:spPr>
        <p:txBody>
          <a:bodyPr wrap="none" lIns="0" rIns="0" tIns="0" bIns="0" anchor="t">
            <a:spAutoFit/>
          </a:bodyPr>
          <a:lstStyle/>
          <a:p>
            <a:pPr>
              <a:lnSpc>
                <a:spcPts val="1984"/>
              </a:lnSpc>
              <a:spcBef>
                <a:spcPts val="0"/>
              </a:spcBef>
              <a:spcAft>
                <a:spcPts val="0"/>
              </a:spcAft>
            </a:pPr>
            <a:r>
              <a:rPr sz="1600" b="1">
                <a:solidFill>
                  <a:srgbClr val="18243B"/>
                </a:solidFill>
                <a:latin typeface="DejaVu Sans"/>
              </a:rPr>
              <a:t>Install Chromium</a:t>
            </a:r>
          </a:p>
        </p:txBody>
      </p:sp>
      <p:sp>
        <p:nvSpPr>
          <p:cNvPr id="11" name="TextBox 10"/>
          <p:cNvSpPr txBox="1"/>
          <p:nvPr/>
        </p:nvSpPr>
        <p:spPr>
          <a:xfrm>
            <a:off x="558800" y="5003800"/>
            <a:ext cx="5384800" cy="571500"/>
          </a:xfrm>
          <a:prstGeom prst="rect">
            <a:avLst/>
          </a:prstGeom>
          <a:noFill/>
        </p:spPr>
        <p:txBody>
          <a:bodyPr wrap="none" lIns="0" rIns="0" tIns="0" bIns="0" anchor="t">
            <a:spAutoFit/>
          </a:bodyPr>
          <a:lstStyle/>
          <a:p>
            <a:pPr>
              <a:lnSpc>
                <a:spcPts val="2100"/>
              </a:lnSpc>
              <a:spcBef>
                <a:spcPts val="0"/>
              </a:spcBef>
              <a:spcAft>
                <a:spcPts val="0"/>
              </a:spcAft>
            </a:pPr>
            <a:r>
              <a:rPr sz="1300" b="0">
                <a:solidFill>
                  <a:srgbClr val="18243B"/>
                </a:solidFill>
                <a:latin typeface="DejaVu Sans Mono"/>
              </a:rPr>
              <a:t>node node_modules/@playwright/test/cli.js \</a:t>
            </a:r>
          </a:p>
          <a:p>
            <a:pPr>
              <a:lnSpc>
                <a:spcPts val="2100"/>
              </a:lnSpc>
              <a:spcBef>
                <a:spcPts val="0"/>
              </a:spcBef>
              <a:spcAft>
                <a:spcPts val="0"/>
              </a:spcAft>
            </a:pPr>
            <a:r>
              <a:rPr sz="1300" b="0">
                <a:solidFill>
                  <a:srgbClr val="18243B"/>
                </a:solidFill>
                <a:latin typeface="DejaVu Sans Mono"/>
              </a:rPr>
              <a:t>install chromium</a:t>
            </a:r>
          </a:p>
        </p:txBody>
      </p:sp>
      <p:sp>
        <p:nvSpPr>
          <p:cNvPr id="12" name="TextBox 11"/>
          <p:cNvSpPr txBox="1"/>
          <p:nvPr/>
        </p:nvSpPr>
        <p:spPr>
          <a:xfrm>
            <a:off x="6375400" y="1993900"/>
            <a:ext cx="5257800" cy="305816"/>
          </a:xfrm>
          <a:prstGeom prst="rect">
            <a:avLst/>
          </a:prstGeom>
          <a:noFill/>
        </p:spPr>
        <p:txBody>
          <a:bodyPr wrap="none" lIns="0" rIns="0" tIns="0" bIns="0" anchor="t">
            <a:spAutoFit/>
          </a:bodyPr>
          <a:lstStyle/>
          <a:p>
            <a:pPr>
              <a:lnSpc>
                <a:spcPts val="2108"/>
              </a:lnSpc>
              <a:spcBef>
                <a:spcPts val="0"/>
              </a:spcBef>
              <a:spcAft>
                <a:spcPts val="0"/>
              </a:spcAft>
            </a:pPr>
            <a:r>
              <a:rPr sz="1700" b="1">
                <a:solidFill>
                  <a:srgbClr val="18243B"/>
                </a:solidFill>
                <a:latin typeface="DejaVu Sans"/>
              </a:rPr>
              <a:t>2 Copy .env.local.example to .env.local</a:t>
            </a:r>
          </a:p>
        </p:txBody>
      </p:sp>
      <p:sp>
        <p:nvSpPr>
          <p:cNvPr id="13" name="Rounded Rectangle 12"/>
          <p:cNvSpPr/>
          <p:nvPr/>
        </p:nvSpPr>
        <p:spPr>
          <a:xfrm>
            <a:off x="6375400" y="2451100"/>
            <a:ext cx="5257800" cy="2413000"/>
          </a:xfrm>
          <a:prstGeom prst="roundRect">
            <a:avLst>
              <a:gd name="adj" fmla="val 12000"/>
            </a:avLst>
          </a:prstGeom>
          <a:solidFill>
            <a:srgbClr val="EE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3200" y="2641600"/>
            <a:ext cx="4902200" cy="1371600"/>
          </a:xfrm>
          <a:prstGeom prst="rect">
            <a:avLst/>
          </a:prstGeom>
          <a:noFill/>
        </p:spPr>
        <p:txBody>
          <a:bodyPr wrap="none" lIns="0" rIns="0" tIns="0" bIns="0" anchor="t">
            <a:spAutoFit/>
          </a:bodyPr>
          <a:lstStyle/>
          <a:p>
            <a:pPr>
              <a:lnSpc>
                <a:spcPts val="2100"/>
              </a:lnSpc>
              <a:spcBef>
                <a:spcPts val="0"/>
              </a:spcBef>
              <a:spcAft>
                <a:spcPts val="0"/>
              </a:spcAft>
            </a:pPr>
            <a:r>
              <a:rPr sz="1200" b="0">
                <a:solidFill>
                  <a:srgbClr val="18243B"/>
                </a:solidFill>
                <a:latin typeface="DejaVu Sans Mono"/>
              </a:rPr>
              <a:t>QASE_TESTOPS_PROJECT=TR</a:t>
            </a:r>
          </a:p>
          <a:p>
            <a:pPr>
              <a:lnSpc>
                <a:spcPts val="2100"/>
              </a:lnSpc>
              <a:spcBef>
                <a:spcPts val="0"/>
              </a:spcBef>
              <a:spcAft>
                <a:spcPts val="0"/>
              </a:spcAft>
            </a:pPr>
            <a:r>
              <a:rPr sz="1200" b="0">
                <a:solidFill>
                  <a:srgbClr val="18243B"/>
                </a:solidFill>
                <a:latin typeface="DejaVu Sans Mono"/>
              </a:rPr>
              <a:t/>
            </a:r>
          </a:p>
          <a:p>
            <a:pPr>
              <a:lnSpc>
                <a:spcPts val="2100"/>
              </a:lnSpc>
              <a:spcBef>
                <a:spcPts val="0"/>
              </a:spcBef>
              <a:spcAft>
                <a:spcPts val="0"/>
              </a:spcAft>
            </a:pPr>
            <a:r>
              <a:rPr sz="1200" b="0">
                <a:solidFill>
                  <a:srgbClr val="18243B"/>
                </a:solidFill>
                <a:latin typeface="DejaVu Sans Mono"/>
              </a:rPr>
              <a:t>QASE_VITEST_API_TOKEN=&lt;Vitest token&gt;</a:t>
            </a:r>
          </a:p>
          <a:p>
            <a:pPr>
              <a:lnSpc>
                <a:spcPts val="2100"/>
              </a:lnSpc>
              <a:spcBef>
                <a:spcPts val="0"/>
              </a:spcBef>
              <a:spcAft>
                <a:spcPts val="0"/>
              </a:spcAft>
            </a:pPr>
            <a:r>
              <a:rPr sz="1200" b="0">
                <a:solidFill>
                  <a:srgbClr val="18243B"/>
                </a:solidFill>
                <a:latin typeface="DejaVu Sans Mono"/>
              </a:rPr>
              <a:t/>
            </a:r>
          </a:p>
          <a:p>
            <a:pPr>
              <a:lnSpc>
                <a:spcPts val="2100"/>
              </a:lnSpc>
              <a:spcBef>
                <a:spcPts val="0"/>
              </a:spcBef>
              <a:spcAft>
                <a:spcPts val="0"/>
              </a:spcAft>
            </a:pPr>
            <a:r>
              <a:rPr sz="1200" b="0">
                <a:solidFill>
                  <a:srgbClr val="18243B"/>
                </a:solidFill>
                <a:latin typeface="DejaVu Sans Mono"/>
              </a:rPr>
              <a:t>QASE_PLAYWRIGHT_API_TOKEN=&lt;Playwright token&gt;</a:t>
            </a:r>
          </a:p>
        </p:txBody>
      </p:sp>
      <p:sp>
        <p:nvSpPr>
          <p:cNvPr id="15" name="TextBox 14"/>
          <p:cNvSpPr txBox="1"/>
          <p:nvPr/>
        </p:nvSpPr>
        <p:spPr>
          <a:xfrm>
            <a:off x="6375400" y="5054600"/>
            <a:ext cx="5257800" cy="242824"/>
          </a:xfrm>
          <a:prstGeom prst="rect">
            <a:avLst/>
          </a:prstGeom>
          <a:noFill/>
        </p:spPr>
        <p:txBody>
          <a:bodyPr wrap="none" lIns="0" rIns="0" tIns="0" bIns="0" anchor="t">
            <a:spAutoFit/>
          </a:bodyPr>
          <a:lstStyle/>
          <a:p>
            <a:pPr>
              <a:lnSpc>
                <a:spcPts val="1612"/>
              </a:lnSpc>
              <a:spcBef>
                <a:spcPts val="0"/>
              </a:spcBef>
              <a:spcAft>
                <a:spcPts val="0"/>
              </a:spcAft>
            </a:pPr>
            <a:r>
              <a:rPr sz="1300" b="0">
                <a:solidFill>
                  <a:srgbClr val="536279"/>
                </a:solidFill>
                <a:latin typeface="DejaVu Sans"/>
              </a:rPr>
              <a:t>Replace the placeholders with your own tokens.</a:t>
            </a:r>
          </a:p>
        </p:txBody>
      </p:sp>
      <p:sp>
        <p:nvSpPr>
          <p:cNvPr id="16" name="Rounded Rectangle 15"/>
          <p:cNvSpPr/>
          <p:nvPr/>
        </p:nvSpPr>
        <p:spPr>
          <a:xfrm>
            <a:off x="558800" y="5753100"/>
            <a:ext cx="11074400" cy="546100"/>
          </a:xfrm>
          <a:prstGeom prst="roundRect">
            <a:avLst>
              <a:gd name="adj" fmla="val 12000"/>
            </a:avLst>
          </a:prstGeom>
          <a:solidFill>
            <a:srgbClr val="18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300" y="5905500"/>
            <a:ext cx="10680700" cy="321564"/>
          </a:xfrm>
          <a:prstGeom prst="rect">
            <a:avLst/>
          </a:prstGeom>
          <a:noFill/>
        </p:spPr>
        <p:txBody>
          <a:bodyPr wrap="none" lIns="0" rIns="0" tIns="0" bIns="0" anchor="t">
            <a:spAutoFit/>
          </a:bodyPr>
          <a:lstStyle/>
          <a:p>
            <a:pPr>
              <a:lnSpc>
                <a:spcPts val="2232"/>
              </a:lnSpc>
              <a:spcBef>
                <a:spcPts val="0"/>
              </a:spcBef>
              <a:spcAft>
                <a:spcPts val="0"/>
              </a:spcAft>
            </a:pPr>
            <a:r>
              <a:rPr sz="1800" b="0">
                <a:solidFill>
                  <a:srgbClr val="FFFFFF"/>
                </a:solidFill>
                <a:latin typeface="DejaVu Sans Mono"/>
              </a:rPr>
              <a:t>3 pnpm test:performative:qase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558800" y="317500"/>
            <a:ext cx="10668000" cy="211328"/>
          </a:xfrm>
          <a:prstGeom prst="rect">
            <a:avLst/>
          </a:prstGeom>
          <a:noFill/>
        </p:spPr>
        <p:txBody>
          <a:bodyPr wrap="none" lIns="0" rIns="0" tIns="0" bIns="0" anchor="t">
            <a:spAutoFit/>
          </a:bodyPr>
          <a:lstStyle/>
          <a:p>
            <a:pPr>
              <a:lnSpc>
                <a:spcPts val="1364"/>
              </a:lnSpc>
              <a:spcBef>
                <a:spcPts val="0"/>
              </a:spcBef>
              <a:spcAft>
                <a:spcPts val="0"/>
              </a:spcAft>
            </a:pPr>
            <a:r>
              <a:rPr sz="1100" b="1">
                <a:solidFill>
                  <a:srgbClr val="6453CC"/>
                </a:solidFill>
                <a:latin typeface="DejaVu Sans"/>
              </a:rPr>
              <a:t>TRIANGLE TEST LAB / DEMO CHECKLIST</a:t>
            </a:r>
          </a:p>
        </p:txBody>
      </p:sp>
      <p:sp>
        <p:nvSpPr>
          <p:cNvPr id="3" name="TextBox 2"/>
          <p:cNvSpPr txBox="1"/>
          <p:nvPr/>
        </p:nvSpPr>
        <p:spPr>
          <a:xfrm>
            <a:off x="558800" y="762000"/>
            <a:ext cx="11074400" cy="573532"/>
          </a:xfrm>
          <a:prstGeom prst="rect">
            <a:avLst/>
          </a:prstGeom>
          <a:noFill/>
        </p:spPr>
        <p:txBody>
          <a:bodyPr wrap="none" lIns="0" rIns="0" tIns="0" bIns="0" anchor="t">
            <a:spAutoFit/>
          </a:bodyPr>
          <a:lstStyle/>
          <a:p>
            <a:pPr>
              <a:lnSpc>
                <a:spcPts val="4216"/>
              </a:lnSpc>
              <a:spcBef>
                <a:spcPts val="0"/>
              </a:spcBef>
              <a:spcAft>
                <a:spcPts val="0"/>
              </a:spcAft>
            </a:pPr>
            <a:r>
              <a:rPr sz="3400" b="1">
                <a:solidFill>
                  <a:srgbClr val="18243B"/>
                </a:solidFill>
                <a:latin typeface="DejaVu Sans"/>
              </a:rPr>
              <a:t>Show the evidence, then the conclusion</a:t>
            </a:r>
          </a:p>
        </p:txBody>
      </p:sp>
      <p:sp>
        <p:nvSpPr>
          <p:cNvPr id="4" name="TextBox 3"/>
          <p:cNvSpPr txBox="1"/>
          <p:nvPr/>
        </p:nvSpPr>
        <p:spPr>
          <a:xfrm>
            <a:off x="558800" y="1409700"/>
            <a:ext cx="11074400" cy="290068"/>
          </a:xfrm>
          <a:prstGeom prst="rect">
            <a:avLst/>
          </a:prstGeom>
          <a:noFill/>
        </p:spPr>
        <p:txBody>
          <a:bodyPr wrap="none" lIns="0" rIns="0" tIns="0" bIns="0" anchor="t">
            <a:spAutoFit/>
          </a:bodyPr>
          <a:lstStyle/>
          <a:p>
            <a:pPr>
              <a:lnSpc>
                <a:spcPts val="1984"/>
              </a:lnSpc>
              <a:spcBef>
                <a:spcPts val="0"/>
              </a:spcBef>
              <a:spcAft>
                <a:spcPts val="0"/>
              </a:spcAft>
            </a:pPr>
            <a:r>
              <a:rPr sz="1600" b="0">
                <a:solidFill>
                  <a:srgbClr val="536279"/>
                </a:solidFill>
                <a:latin typeface="DejaVu Sans"/>
              </a:rPr>
              <a:t>Use the passing cases to establish a baseline and the failures to demonstrate detection.</a:t>
            </a:r>
          </a:p>
        </p:txBody>
      </p:sp>
      <p:sp>
        <p:nvSpPr>
          <p:cNvPr id="5" name="TextBox 4"/>
          <p:cNvSpPr txBox="1"/>
          <p:nvPr/>
        </p:nvSpPr>
        <p:spPr>
          <a:xfrm>
            <a:off x="558800" y="6553200"/>
            <a:ext cx="82550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Qase project TR | 28 Oct 2026</a:t>
            </a:r>
          </a:p>
        </p:txBody>
      </p:sp>
      <p:sp>
        <p:nvSpPr>
          <p:cNvPr id="6" name="TextBox 5"/>
          <p:cNvSpPr txBox="1"/>
          <p:nvPr/>
        </p:nvSpPr>
        <p:spPr>
          <a:xfrm>
            <a:off x="10972800" y="6553200"/>
            <a:ext cx="825500" cy="179832"/>
          </a:xfrm>
          <a:prstGeom prst="rect">
            <a:avLst/>
          </a:prstGeom>
          <a:noFill/>
        </p:spPr>
        <p:txBody>
          <a:bodyPr wrap="none" lIns="0" rIns="0" tIns="0" bIns="0" anchor="t">
            <a:spAutoFit/>
          </a:bodyPr>
          <a:lstStyle/>
          <a:p>
            <a:pPr>
              <a:lnSpc>
                <a:spcPts val="1116"/>
              </a:lnSpc>
              <a:spcBef>
                <a:spcPts val="0"/>
              </a:spcBef>
              <a:spcAft>
                <a:spcPts val="0"/>
              </a:spcAft>
            </a:pPr>
            <a:r>
              <a:rPr sz="900" b="0">
                <a:solidFill>
                  <a:srgbClr val="536279"/>
                </a:solidFill>
                <a:latin typeface="DejaVu Sans"/>
              </a:rPr>
              <a:t>10 / 10</a:t>
            </a:r>
          </a:p>
        </p:txBody>
      </p:sp>
      <p:sp>
        <p:nvSpPr>
          <p:cNvPr id="7" name="Rounded Rectangle 6"/>
          <p:cNvSpPr/>
          <p:nvPr/>
        </p:nvSpPr>
        <p:spPr>
          <a:xfrm>
            <a:off x="558800" y="2044700"/>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2082800"/>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1</a:t>
            </a:r>
          </a:p>
        </p:txBody>
      </p:sp>
      <p:sp>
        <p:nvSpPr>
          <p:cNvPr id="9" name="TextBox 8"/>
          <p:cNvSpPr txBox="1"/>
          <p:nvPr/>
        </p:nvSpPr>
        <p:spPr>
          <a:xfrm>
            <a:off x="1092200" y="2019300"/>
            <a:ext cx="10541000" cy="337312"/>
          </a:xfrm>
          <a:prstGeom prst="rect">
            <a:avLst/>
          </a:prstGeom>
          <a:noFill/>
        </p:spPr>
        <p:txBody>
          <a:bodyPr wrap="none" lIns="0" rIns="0" tIns="0" bIns="0" anchor="t">
            <a:spAutoFit/>
          </a:bodyPr>
          <a:lstStyle/>
          <a:p>
            <a:pPr>
              <a:lnSpc>
                <a:spcPts val="2356"/>
              </a:lnSpc>
              <a:spcBef>
                <a:spcPts val="0"/>
              </a:spcBef>
              <a:spcAft>
                <a:spcPts val="0"/>
              </a:spcAft>
            </a:pPr>
            <a:r>
              <a:rPr sz="1900" b="1">
                <a:solidFill>
                  <a:srgbClr val="18243B"/>
                </a:solidFill>
                <a:latin typeface="DejaVu Sans"/>
              </a:rPr>
              <a:t>Before the session</a:t>
            </a:r>
          </a:p>
        </p:txBody>
      </p:sp>
      <p:sp>
        <p:nvSpPr>
          <p:cNvPr id="10" name="TextBox 9"/>
          <p:cNvSpPr txBox="1"/>
          <p:nvPr/>
        </p:nvSpPr>
        <p:spPr>
          <a:xfrm>
            <a:off x="1092200" y="2382012"/>
            <a:ext cx="10541000" cy="305816"/>
          </a:xfrm>
          <a:prstGeom prst="rect">
            <a:avLst/>
          </a:prstGeom>
          <a:noFill/>
        </p:spPr>
        <p:txBody>
          <a:bodyPr wrap="none" lIns="0" rIns="0" tIns="0" bIns="0" anchor="t">
            <a:spAutoFit/>
          </a:bodyPr>
          <a:lstStyle/>
          <a:p>
            <a:pPr>
              <a:lnSpc>
                <a:spcPts val="2108"/>
              </a:lnSpc>
              <a:spcBef>
                <a:spcPts val="0"/>
              </a:spcBef>
              <a:spcAft>
                <a:spcPts val="0"/>
              </a:spcAft>
            </a:pPr>
            <a:r>
              <a:rPr sz="1700" b="0">
                <a:solidFill>
                  <a:srgbClr val="536279"/>
                </a:solidFill>
                <a:latin typeface="DejaVu Sans"/>
              </a:rPr>
              <a:t>Qase access, four manual cases, GitHub settings and one rehearsal.</a:t>
            </a:r>
          </a:p>
        </p:txBody>
      </p:sp>
      <p:sp>
        <p:nvSpPr>
          <p:cNvPr id="11" name="Rounded Rectangle 10"/>
          <p:cNvSpPr/>
          <p:nvPr/>
        </p:nvSpPr>
        <p:spPr>
          <a:xfrm>
            <a:off x="558800" y="2903728"/>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400" y="2941828"/>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2</a:t>
            </a:r>
          </a:p>
        </p:txBody>
      </p:sp>
      <p:sp>
        <p:nvSpPr>
          <p:cNvPr id="13" name="TextBox 12"/>
          <p:cNvSpPr txBox="1"/>
          <p:nvPr/>
        </p:nvSpPr>
        <p:spPr>
          <a:xfrm>
            <a:off x="1092200" y="2878328"/>
            <a:ext cx="10541000" cy="337312"/>
          </a:xfrm>
          <a:prstGeom prst="rect">
            <a:avLst/>
          </a:prstGeom>
          <a:noFill/>
        </p:spPr>
        <p:txBody>
          <a:bodyPr wrap="none" lIns="0" rIns="0" tIns="0" bIns="0" anchor="t">
            <a:spAutoFit/>
          </a:bodyPr>
          <a:lstStyle/>
          <a:p>
            <a:pPr>
              <a:lnSpc>
                <a:spcPts val="2356"/>
              </a:lnSpc>
              <a:spcBef>
                <a:spcPts val="0"/>
              </a:spcBef>
              <a:spcAft>
                <a:spcPts val="0"/>
              </a:spcAft>
            </a:pPr>
            <a:r>
              <a:rPr sz="1900" b="1">
                <a:solidFill>
                  <a:srgbClr val="18243B"/>
                </a:solidFill>
                <a:latin typeface="DejaVu Sans"/>
              </a:rPr>
              <a:t>During the demonstration</a:t>
            </a:r>
          </a:p>
        </p:txBody>
      </p:sp>
      <p:sp>
        <p:nvSpPr>
          <p:cNvPr id="14" name="TextBox 13"/>
          <p:cNvSpPr txBox="1"/>
          <p:nvPr/>
        </p:nvSpPr>
        <p:spPr>
          <a:xfrm>
            <a:off x="1092200" y="3241040"/>
            <a:ext cx="10541000" cy="305816"/>
          </a:xfrm>
          <a:prstGeom prst="rect">
            <a:avLst/>
          </a:prstGeom>
          <a:noFill/>
        </p:spPr>
        <p:txBody>
          <a:bodyPr wrap="none" lIns="0" rIns="0" tIns="0" bIns="0" anchor="t">
            <a:spAutoFit/>
          </a:bodyPr>
          <a:lstStyle/>
          <a:p>
            <a:pPr>
              <a:lnSpc>
                <a:spcPts val="2108"/>
              </a:lnSpc>
              <a:spcBef>
                <a:spcPts val="0"/>
              </a:spcBef>
              <a:spcAft>
                <a:spcPts val="0"/>
              </a:spcAft>
            </a:pPr>
            <a:r>
              <a:rPr sz="1700" b="0">
                <a:solidFill>
                  <a:srgbClr val="536279"/>
                </a:solidFill>
                <a:latin typeface="DejaVu Sans"/>
              </a:rPr>
              <a:t>Start automation. Run manual cases 03, 01, 02, 04. Complete the manual run.</a:t>
            </a:r>
          </a:p>
        </p:txBody>
      </p:sp>
      <p:sp>
        <p:nvSpPr>
          <p:cNvPr id="15" name="Rounded Rectangle 14"/>
          <p:cNvSpPr/>
          <p:nvPr/>
        </p:nvSpPr>
        <p:spPr>
          <a:xfrm>
            <a:off x="558800" y="3762755"/>
            <a:ext cx="342900" cy="342900"/>
          </a:xfrm>
          <a:prstGeom prst="roundRect">
            <a:avLst>
              <a:gd name="adj" fmla="val 12000"/>
            </a:avLst>
          </a:prstGeom>
          <a:solidFill>
            <a:srgbClr val="645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3800855"/>
            <a:ext cx="254000" cy="242824"/>
          </a:xfrm>
          <a:prstGeom prst="rect">
            <a:avLst/>
          </a:prstGeom>
          <a:noFill/>
        </p:spPr>
        <p:txBody>
          <a:bodyPr wrap="none" lIns="0" rIns="0" tIns="0" bIns="0" anchor="t">
            <a:spAutoFit/>
          </a:bodyPr>
          <a:lstStyle/>
          <a:p>
            <a:pPr>
              <a:lnSpc>
                <a:spcPts val="1612"/>
              </a:lnSpc>
              <a:spcBef>
                <a:spcPts val="0"/>
              </a:spcBef>
              <a:spcAft>
                <a:spcPts val="0"/>
              </a:spcAft>
            </a:pPr>
            <a:r>
              <a:rPr sz="1300" b="1">
                <a:solidFill>
                  <a:srgbClr val="FFFFFF"/>
                </a:solidFill>
                <a:latin typeface="DejaVu Sans"/>
              </a:rPr>
              <a:t>3</a:t>
            </a:r>
          </a:p>
        </p:txBody>
      </p:sp>
      <p:sp>
        <p:nvSpPr>
          <p:cNvPr id="17" name="TextBox 16"/>
          <p:cNvSpPr txBox="1"/>
          <p:nvPr/>
        </p:nvSpPr>
        <p:spPr>
          <a:xfrm>
            <a:off x="1092200" y="3737355"/>
            <a:ext cx="10541000" cy="337312"/>
          </a:xfrm>
          <a:prstGeom prst="rect">
            <a:avLst/>
          </a:prstGeom>
          <a:noFill/>
        </p:spPr>
        <p:txBody>
          <a:bodyPr wrap="none" lIns="0" rIns="0" tIns="0" bIns="0" anchor="t">
            <a:spAutoFit/>
          </a:bodyPr>
          <a:lstStyle/>
          <a:p>
            <a:pPr>
              <a:lnSpc>
                <a:spcPts val="2356"/>
              </a:lnSpc>
              <a:spcBef>
                <a:spcPts val="0"/>
              </a:spcBef>
              <a:spcAft>
                <a:spcPts val="0"/>
              </a:spcAft>
            </a:pPr>
            <a:r>
              <a:rPr sz="1900" b="1">
                <a:solidFill>
                  <a:srgbClr val="18243B"/>
                </a:solidFill>
                <a:latin typeface="DejaVu Sans"/>
              </a:rPr>
              <a:t>Show the reports</a:t>
            </a:r>
          </a:p>
        </p:txBody>
      </p:sp>
      <p:sp>
        <p:nvSpPr>
          <p:cNvPr id="18" name="TextBox 17"/>
          <p:cNvSpPr txBox="1"/>
          <p:nvPr/>
        </p:nvSpPr>
        <p:spPr>
          <a:xfrm>
            <a:off x="1092200" y="4100067"/>
            <a:ext cx="10541000" cy="305816"/>
          </a:xfrm>
          <a:prstGeom prst="rect">
            <a:avLst/>
          </a:prstGeom>
          <a:noFill/>
        </p:spPr>
        <p:txBody>
          <a:bodyPr wrap="none" lIns="0" rIns="0" tIns="0" bIns="0" anchor="t">
            <a:spAutoFit/>
          </a:bodyPr>
          <a:lstStyle/>
          <a:p>
            <a:pPr>
              <a:lnSpc>
                <a:spcPts val="2108"/>
              </a:lnSpc>
              <a:spcBef>
                <a:spcPts val="0"/>
              </a:spcBef>
              <a:spcAft>
                <a:spcPts val="0"/>
              </a:spcAft>
            </a:pPr>
            <a:r>
              <a:rPr sz="1700" b="0">
                <a:solidFill>
                  <a:srgbClr val="536279"/>
                </a:solidFill>
                <a:latin typeface="DejaVu Sans"/>
              </a:rPr>
              <a:t>Each run has 2 passed + 2 failed. Open a failed assertion and explain the mismatch.</a:t>
            </a:r>
          </a:p>
        </p:txBody>
      </p:sp>
      <p:sp>
        <p:nvSpPr>
          <p:cNvPr id="19" name="TextBox 18"/>
          <p:cNvSpPr txBox="1"/>
          <p:nvPr/>
        </p:nvSpPr>
        <p:spPr>
          <a:xfrm>
            <a:off x="558800" y="5499100"/>
            <a:ext cx="11074400" cy="447548"/>
          </a:xfrm>
          <a:prstGeom prst="rect">
            <a:avLst/>
          </a:prstGeom>
          <a:noFill/>
        </p:spPr>
        <p:txBody>
          <a:bodyPr wrap="none" lIns="0" rIns="0" tIns="0" bIns="0" anchor="t">
            <a:spAutoFit/>
          </a:bodyPr>
          <a:lstStyle/>
          <a:p>
            <a:pPr>
              <a:lnSpc>
                <a:spcPts val="3224"/>
              </a:lnSpc>
              <a:spcBef>
                <a:spcPts val="0"/>
              </a:spcBef>
              <a:spcAft>
                <a:spcPts val="0"/>
              </a:spcAft>
            </a:pPr>
            <a:r>
              <a:rPr sz="2600" b="1">
                <a:solidFill>
                  <a:srgbClr val="6453CC"/>
                </a:solidFill>
                <a:latin typeface="DejaVu Sans"/>
              </a:rPr>
              <a:t>The classifier is faulty. These tests catch it.</a:t>
            </a:r>
          </a:p>
        </p:txBody>
      </p:sp>
      <p:sp>
        <p:nvSpPr>
          <p:cNvPr id="20" name="TextBox 19"/>
          <p:cNvSpPr txBox="1"/>
          <p:nvPr/>
        </p:nvSpPr>
        <p:spPr>
          <a:xfrm>
            <a:off x="558800" y="6121400"/>
            <a:ext cx="2540000" cy="258572"/>
          </a:xfrm>
          <a:prstGeom prst="rect">
            <a:avLst/>
          </a:prstGeom>
          <a:noFill/>
        </p:spPr>
        <p:txBody>
          <a:bodyPr wrap="none" lIns="0" rIns="0" tIns="0" bIns="0" anchor="t">
            <a:spAutoFit/>
          </a:bodyPr>
          <a:lstStyle/>
          <a:p>
            <a:pPr>
              <a:lnSpc>
                <a:spcPts val="1736"/>
              </a:lnSpc>
              <a:spcBef>
                <a:spcPts val="0"/>
              </a:spcBef>
              <a:spcAft>
                <a:spcPts val="0"/>
              </a:spcAft>
            </a:pPr>
            <a:r>
              <a:rPr sz="1400" b="0">
                <a:solidFill>
                  <a:srgbClr val="6453CC"/>
                </a:solidFill>
                <a:latin typeface="DejaVu Sans"/>
                <a:hlinkClick r:id="rId3"/>
              </a:rPr>
              <a:t>Triangle Lab</a:t>
            </a:r>
          </a:p>
        </p:txBody>
      </p:sp>
      <p:sp>
        <p:nvSpPr>
          <p:cNvPr id="21" name="TextBox 20"/>
          <p:cNvSpPr txBox="1"/>
          <p:nvPr/>
        </p:nvSpPr>
        <p:spPr>
          <a:xfrm>
            <a:off x="3479800" y="6121400"/>
            <a:ext cx="2794000" cy="258572"/>
          </a:xfrm>
          <a:prstGeom prst="rect">
            <a:avLst/>
          </a:prstGeom>
          <a:noFill/>
        </p:spPr>
        <p:txBody>
          <a:bodyPr wrap="none" lIns="0" rIns="0" tIns="0" bIns="0" anchor="t">
            <a:spAutoFit/>
          </a:bodyPr>
          <a:lstStyle/>
          <a:p>
            <a:pPr>
              <a:lnSpc>
                <a:spcPts val="1736"/>
              </a:lnSpc>
              <a:spcBef>
                <a:spcPts val="0"/>
              </a:spcBef>
              <a:spcAft>
                <a:spcPts val="0"/>
              </a:spcAft>
            </a:pPr>
            <a:r>
              <a:rPr sz="1400" b="0">
                <a:solidFill>
                  <a:srgbClr val="6453CC"/>
                </a:solidFill>
                <a:latin typeface="DejaVu Sans"/>
                <a:hlinkClick r:id="rId4"/>
              </a:rPr>
              <a:t>Qase repository</a:t>
            </a:r>
          </a:p>
        </p:txBody>
      </p:sp>
      <p:sp>
        <p:nvSpPr>
          <p:cNvPr id="22" name="TextBox 21"/>
          <p:cNvSpPr txBox="1"/>
          <p:nvPr/>
        </p:nvSpPr>
        <p:spPr>
          <a:xfrm>
            <a:off x="6781800" y="6121400"/>
            <a:ext cx="3175000" cy="258572"/>
          </a:xfrm>
          <a:prstGeom prst="rect">
            <a:avLst/>
          </a:prstGeom>
          <a:noFill/>
        </p:spPr>
        <p:txBody>
          <a:bodyPr wrap="none" lIns="0" rIns="0" tIns="0" bIns="0" anchor="t">
            <a:spAutoFit/>
          </a:bodyPr>
          <a:lstStyle/>
          <a:p>
            <a:pPr>
              <a:lnSpc>
                <a:spcPts val="1736"/>
              </a:lnSpc>
              <a:spcBef>
                <a:spcPts val="0"/>
              </a:spcBef>
              <a:spcAft>
                <a:spcPts val="0"/>
              </a:spcAft>
            </a:pPr>
            <a:r>
              <a:rPr sz="1400" b="0">
                <a:solidFill>
                  <a:srgbClr val="6453CC"/>
                </a:solidFill>
                <a:latin typeface="DejaVu Sans"/>
                <a:hlinkClick r:id="rId5"/>
              </a:rPr>
              <a:t>GitHub workflow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Triangle Test Lab: Qase demonstration</dc:title>
  <dc:subject>Setup, four cases, manual execution and automated reporting</dc:subject>
  <dc:creator>Triangle Test Lab</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